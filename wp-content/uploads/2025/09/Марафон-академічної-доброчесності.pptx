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84" r:id="rId1"/>
  </p:sldMasterIdLst>
  <p:notesMasterIdLst>
    <p:notesMasterId r:id="rId22"/>
  </p:notesMasterIdLst>
  <p:sldIdLst>
    <p:sldId id="256" r:id="rId2"/>
    <p:sldId id="273" r:id="rId3"/>
    <p:sldId id="277" r:id="rId4"/>
    <p:sldId id="257" r:id="rId5"/>
    <p:sldId id="258" r:id="rId6"/>
    <p:sldId id="274" r:id="rId7"/>
    <p:sldId id="259" r:id="rId8"/>
    <p:sldId id="266" r:id="rId9"/>
    <p:sldId id="275" r:id="rId10"/>
    <p:sldId id="276" r:id="rId11"/>
    <p:sldId id="278" r:id="rId12"/>
    <p:sldId id="265" r:id="rId13"/>
    <p:sldId id="261" r:id="rId14"/>
    <p:sldId id="263" r:id="rId15"/>
    <p:sldId id="268" r:id="rId16"/>
    <p:sldId id="269" r:id="rId17"/>
    <p:sldId id="279" r:id="rId18"/>
    <p:sldId id="280" r:id="rId19"/>
    <p:sldId id="271" r:id="rId20"/>
    <p:sldId id="267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CE982-35F8-458D-8A5B-CB52FCE6F107}" type="datetimeFigureOut">
              <a:rPr lang="ru-RU" smtClean="0"/>
              <a:t>21.03.2025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49213-1AB7-4896-B561-7B0F3E572CC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249213-1AB7-4896-B561-7B0F3E572CC0}" type="slidenum">
              <a:rPr lang="ru-RU" smtClean="0"/>
              <a:t>14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7" name="Объект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4" name="Объект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8" name="Объект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4" name="Объект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pPr/>
              <a:t>21.03.2025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zakon.rada.gov.ua/laws/show/2145-19#Tex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zakon.rada.gov.ua/laws/show/2145-19#Tex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5608916"/>
            <a:ext cx="7416824" cy="938436"/>
          </a:xfrm>
        </p:spPr>
        <p:txBody>
          <a:bodyPr>
            <a:noAutofit/>
          </a:bodyPr>
          <a:lstStyle/>
          <a:p>
            <a:pPr algn="ctr"/>
            <a:r>
              <a:rPr lang="uk-UA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 відділу внутрішнього забезпечення якості вищої освіти та навчально-методичної діяльності</a:t>
            </a:r>
            <a:br>
              <a:rPr lang="uk-UA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Марина Гиря</a:t>
            </a:r>
            <a:endParaRPr lang="uk-U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A6AAF4-609F-2187-4E6F-04948B1D9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66037"/>
            <a:ext cx="3489292" cy="3628460"/>
          </a:xfrm>
          <a:prstGeom prst="rect">
            <a:avLst/>
          </a:prstGeom>
        </p:spPr>
      </p:pic>
      <p:pic>
        <p:nvPicPr>
          <p:cNvPr id="5" name="Picture 2" descr="https://khimu.edu.ua/test/img/logo-w.png">
            <a:extLst>
              <a:ext uri="{FF2B5EF4-FFF2-40B4-BE49-F238E27FC236}">
                <a16:creationId xmlns:a16="http://schemas.microsoft.com/office/drawing/2014/main" id="{0BAD18A3-BAE3-7719-FAB8-26723F2E6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895" y="0"/>
            <a:ext cx="1757796" cy="96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1966037"/>
            <a:ext cx="3672007" cy="3610952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506288" y="908720"/>
            <a:ext cx="8324837" cy="1025390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kern="1200" cap="all" baseline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k-UA" sz="3200" b="1" u="sng" dirty="0">
                <a:effectLst/>
              </a:rPr>
              <a:t>Нормативно-правові аспекти академічної доброчесності</a:t>
            </a:r>
            <a:endParaRPr lang="uk-UA" sz="3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48000" endA="300" endPos="550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885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686800" cy="792088"/>
          </a:xfrm>
        </p:spPr>
        <p:txBody>
          <a:bodyPr lIns="36000" tIns="36000" rIns="36000" bIns="36000">
            <a:normAutofit fontScale="90000"/>
          </a:bodyPr>
          <a:lstStyle/>
          <a:p>
            <a:r>
              <a:rPr lang="uk-UA" sz="3200" dirty="0" smtClean="0">
                <a:solidFill>
                  <a:schemeClr val="tx1"/>
                </a:solidFill>
              </a:rPr>
              <a:t>Історія Академічної </a:t>
            </a:r>
            <a:br>
              <a:rPr lang="uk-UA" sz="3200" dirty="0" smtClean="0">
                <a:solidFill>
                  <a:schemeClr val="tx1"/>
                </a:solidFill>
              </a:rPr>
            </a:br>
            <a:r>
              <a:rPr lang="uk-UA" sz="3200" dirty="0" smtClean="0">
                <a:solidFill>
                  <a:schemeClr val="tx1"/>
                </a:solidFill>
              </a:rPr>
              <a:t>                       доброчесності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1979712" y="1313384"/>
            <a:ext cx="710205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uk-UA" sz="2000" b="1" dirty="0" smtClean="0">
                <a:solidFill>
                  <a:srgbClr val="FF0000"/>
                </a:solidFill>
                <a:latin typeface="-apple-system"/>
              </a:rPr>
              <a:t>2013</a:t>
            </a:r>
            <a:r>
              <a:rPr lang="uk-UA" sz="2000" dirty="0" smtClean="0">
                <a:solidFill>
                  <a:srgbClr val="061421"/>
                </a:solidFill>
                <a:latin typeface="-apple-system"/>
              </a:rPr>
              <a:t> Міжнародний центр академічної доброчесності (ICAI) був заснований для боротьби з обманом, плагіатом та академічною </a:t>
            </a:r>
            <a:r>
              <a:rPr lang="uk-UA" sz="2000" dirty="0" err="1" smtClean="0">
                <a:solidFill>
                  <a:srgbClr val="061421"/>
                </a:solidFill>
                <a:latin typeface="-apple-system"/>
              </a:rPr>
              <a:t>недоброчесністю</a:t>
            </a:r>
            <a:r>
              <a:rPr lang="uk-UA" sz="2000" dirty="0" smtClean="0">
                <a:solidFill>
                  <a:srgbClr val="061421"/>
                </a:solidFill>
                <a:latin typeface="-apple-system"/>
              </a:rPr>
              <a:t> у вищій освіті. Сьогодні Міжнародний центр має ширшу місію і включає поширення культури доброчесності в академічних спільнотах по всьому світу.</a:t>
            </a:r>
            <a:endParaRPr lang="uk-UA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7" y="1313384"/>
            <a:ext cx="1981200" cy="9334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0"/>
            <a:ext cx="3289448" cy="143869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0" y="3284984"/>
            <a:ext cx="87484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FF0000"/>
                </a:solidFill>
                <a:latin typeface="Noto Sans"/>
              </a:rPr>
              <a:t>2016</a:t>
            </a:r>
            <a:r>
              <a:rPr lang="ru-RU" sz="2000" dirty="0" smtClean="0">
                <a:latin typeface="Noto Sans"/>
              </a:rPr>
              <a:t>  </a:t>
            </a:r>
            <a:r>
              <a:rPr lang="uk-UA" sz="2000" dirty="0" smtClean="0">
                <a:latin typeface="Noto Sans"/>
              </a:rPr>
              <a:t>академічна доброчесність набула поширення та викликала інтерес серед закладів вищої освіти та наукової спільноти</a:t>
            </a:r>
            <a:endParaRPr lang="uk-UA" sz="2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E0F1F8-D91D-AC3F-C276-AC64AEAD3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05" y="4025478"/>
            <a:ext cx="1565983" cy="192380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979712" y="4107690"/>
            <a:ext cx="688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  <a:latin typeface="Noto Sans"/>
              </a:rPr>
              <a:t>2017</a:t>
            </a:r>
            <a:r>
              <a:rPr lang="ru-RU" sz="2000" dirty="0">
                <a:latin typeface="Noto Sans"/>
              </a:rPr>
              <a:t> </a:t>
            </a:r>
            <a:r>
              <a:rPr lang="ru-RU" sz="2000" dirty="0" smtClean="0">
                <a:latin typeface="Noto Sans"/>
              </a:rPr>
              <a:t> </a:t>
            </a:r>
            <a:r>
              <a:rPr lang="ru-RU" sz="2000" dirty="0">
                <a:latin typeface="Noto Sans"/>
              </a:rPr>
              <a:t>у </a:t>
            </a:r>
            <a:r>
              <a:rPr lang="uk-UA" sz="2000" dirty="0" smtClean="0">
                <a:latin typeface="Noto Sans"/>
              </a:rPr>
              <a:t>Законі України «Про освіту» було затверджено основні положення академічної доброчесності</a:t>
            </a:r>
            <a:endParaRPr lang="uk-UA" sz="20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965361" y="4930396"/>
            <a:ext cx="70410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000" b="1" dirty="0" smtClean="0">
                <a:solidFill>
                  <a:srgbClr val="FF0000"/>
                </a:solidFill>
                <a:latin typeface="-apple-system"/>
              </a:rPr>
              <a:t>2019</a:t>
            </a:r>
            <a:r>
              <a:rPr lang="uk-UA" sz="2000" dirty="0" smtClean="0">
                <a:solidFill>
                  <a:srgbClr val="061421"/>
                </a:solidFill>
                <a:latin typeface="-apple-system"/>
              </a:rPr>
              <a:t>  Створення </a:t>
            </a:r>
            <a:r>
              <a:rPr lang="uk-UA" sz="2000" dirty="0" err="1" smtClean="0">
                <a:solidFill>
                  <a:srgbClr val="061421"/>
                </a:solidFill>
                <a:latin typeface="-apple-system"/>
              </a:rPr>
              <a:t>Комитету</a:t>
            </a:r>
            <a:r>
              <a:rPr lang="uk-UA" sz="2000" dirty="0" smtClean="0">
                <a:solidFill>
                  <a:srgbClr val="061421"/>
                </a:solidFill>
                <a:latin typeface="-apple-system"/>
              </a:rPr>
              <a:t> з питань етики при НАЗЯВО, що займається виявленням академічного плагіату та інших проявів академічної </a:t>
            </a:r>
            <a:r>
              <a:rPr lang="uk-UA" sz="2000" dirty="0" err="1" smtClean="0">
                <a:solidFill>
                  <a:srgbClr val="061421"/>
                </a:solidFill>
                <a:latin typeface="-apple-system"/>
              </a:rPr>
              <a:t>недоброчесності</a:t>
            </a:r>
            <a:r>
              <a:rPr lang="uk-UA" sz="2000" dirty="0" smtClean="0">
                <a:solidFill>
                  <a:srgbClr val="061421"/>
                </a:solidFill>
                <a:latin typeface="-apple-system"/>
              </a:rPr>
              <a:t> в освітній і науковій діяльності</a:t>
            </a:r>
            <a:endParaRPr lang="uk-UA" sz="20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535601" y="6308930"/>
            <a:ext cx="8470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Noto Sans"/>
              </a:rPr>
              <a:t>Розроблено</a:t>
            </a:r>
            <a:r>
              <a:rPr lang="ru-RU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Noto Sans"/>
              </a:rPr>
              <a:t> проект  </a:t>
            </a:r>
            <a:r>
              <a:rPr lang="uk-UA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Noto Sans"/>
              </a:rPr>
              <a:t>Закону </a:t>
            </a:r>
            <a:r>
              <a:rPr lang="uk-UA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Noto Sans"/>
              </a:rPr>
              <a:t>України </a:t>
            </a:r>
            <a:r>
              <a:rPr lang="uk-UA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Noto Sans"/>
              </a:rPr>
              <a:t>«Про Академічну  доброчесність»  </a:t>
            </a:r>
            <a:endParaRPr lang="ru-RU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986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uk-UA" sz="2800" dirty="0" smtClean="0"/>
              <a:t>Міжнародні стандарти та </a:t>
            </a:r>
            <a:r>
              <a:rPr lang="uk-UA" sz="2800" dirty="0" err="1" smtClean="0"/>
              <a:t>европейська</a:t>
            </a:r>
            <a:r>
              <a:rPr lang="uk-UA" sz="2800" dirty="0" smtClean="0"/>
              <a:t> практика у сфері формування простору академічної доброчесності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uk-UA" sz="2400" dirty="0" smtClean="0">
              <a:solidFill>
                <a:srgbClr val="061421"/>
              </a:solidFill>
            </a:endParaRPr>
          </a:p>
          <a:p>
            <a:pPr marL="0" indent="0" algn="just">
              <a:buNone/>
            </a:pPr>
            <a:r>
              <a:rPr lang="uk-UA" sz="2400" dirty="0" smtClean="0">
                <a:solidFill>
                  <a:srgbClr val="061421"/>
                </a:solidFill>
              </a:rPr>
              <a:t>Міжнародний </a:t>
            </a:r>
            <a:r>
              <a:rPr lang="uk-UA" sz="2400" dirty="0">
                <a:solidFill>
                  <a:srgbClr val="061421"/>
                </a:solidFill>
              </a:rPr>
              <a:t>центр академічної </a:t>
            </a:r>
            <a:r>
              <a:rPr lang="uk-UA" sz="2400" dirty="0" smtClean="0">
                <a:solidFill>
                  <a:srgbClr val="061421"/>
                </a:solidFill>
              </a:rPr>
              <a:t> доброчесності при визначенні академічної доброчесності спирається на цінності, яких необхідно дотримуватися</a:t>
            </a:r>
            <a:r>
              <a:rPr lang="en-US" sz="2400" dirty="0" smtClean="0">
                <a:solidFill>
                  <a:srgbClr val="061421"/>
                </a:solidFill>
              </a:rPr>
              <a:t>:</a:t>
            </a:r>
            <a:endParaRPr lang="uk-UA" sz="2400" dirty="0" smtClean="0">
              <a:solidFill>
                <a:srgbClr val="061421"/>
              </a:solidFill>
            </a:endParaRPr>
          </a:p>
          <a:p>
            <a:pPr marL="0" indent="0">
              <a:buNone/>
            </a:pPr>
            <a:r>
              <a:rPr lang="uk-UA" sz="2400" dirty="0">
                <a:solidFill>
                  <a:srgbClr val="061421"/>
                </a:solidFill>
              </a:rPr>
              <a:t> </a:t>
            </a:r>
            <a:r>
              <a:rPr lang="uk-UA" sz="2400" dirty="0" smtClean="0">
                <a:solidFill>
                  <a:srgbClr val="061421"/>
                </a:solidFill>
              </a:rPr>
              <a:t>                              </a:t>
            </a:r>
            <a:r>
              <a:rPr lang="uk-UA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ЧЕСНІСТЬ</a:t>
            </a:r>
          </a:p>
          <a:p>
            <a:pPr marL="0" indent="0">
              <a:buNone/>
            </a:pPr>
            <a:r>
              <a:rPr lang="uk-UA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uk-UA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ДОВІРА</a:t>
            </a:r>
          </a:p>
          <a:p>
            <a:pPr marL="0" indent="0">
              <a:buNone/>
            </a:pPr>
            <a:r>
              <a:rPr lang="uk-UA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uk-UA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СПРАВЕДЛИВІСТЬ</a:t>
            </a:r>
          </a:p>
          <a:p>
            <a:pPr marL="0" indent="0">
              <a:buNone/>
            </a:pPr>
            <a:r>
              <a:rPr lang="uk-UA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uk-UA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ПОВАГА</a:t>
            </a:r>
          </a:p>
          <a:p>
            <a:pPr marL="0" indent="0">
              <a:buNone/>
            </a:pPr>
            <a:r>
              <a:rPr lang="uk-UA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uk-UA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ВІДПОВІДАЛЬНІСТЬ ТА МУЖНІСТЬ</a:t>
            </a:r>
            <a:endParaRPr lang="ru-RU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92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с двумя скругленными противолежащими углами 3"/>
          <p:cNvSpPr/>
          <p:nvPr/>
        </p:nvSpPr>
        <p:spPr>
          <a:xfrm>
            <a:off x="611560" y="463349"/>
            <a:ext cx="7416824" cy="975087"/>
          </a:xfrm>
          <a:prstGeom prst="round2Diag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Закон  України про освіту</a:t>
            </a:r>
          </a:p>
          <a:p>
            <a:pPr algn="ctr"/>
            <a:r>
              <a:rPr lang="uk-UA" sz="2000" b="1" dirty="0" smtClean="0"/>
              <a:t>Розділ </a:t>
            </a:r>
            <a:r>
              <a:rPr lang="en-US" sz="2000" b="1" dirty="0" smtClean="0"/>
              <a:t>V</a:t>
            </a:r>
            <a:endParaRPr lang="uk-UA" sz="2000" b="1" dirty="0" smtClean="0"/>
          </a:p>
          <a:p>
            <a:pPr algn="ctr"/>
            <a:r>
              <a:rPr lang="uk-UA" sz="2000" b="1" dirty="0" smtClean="0"/>
              <a:t>Забезпечення якості освіти</a:t>
            </a:r>
            <a:endParaRPr lang="ru-RU" sz="2000" b="1" dirty="0"/>
          </a:p>
        </p:txBody>
      </p:sp>
      <p:sp>
        <p:nvSpPr>
          <p:cNvPr id="5" name="Прямоугольник с двумя скругленными соседними углами 4"/>
          <p:cNvSpPr/>
          <p:nvPr/>
        </p:nvSpPr>
        <p:spPr>
          <a:xfrm>
            <a:off x="9630" y="1737647"/>
            <a:ext cx="2834178" cy="1252678"/>
          </a:xfrm>
          <a:prstGeom prst="round2Same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41.</a:t>
            </a:r>
          </a:p>
          <a:p>
            <a:pPr algn="ctr"/>
            <a:r>
              <a:rPr lang="ru-RU" dirty="0"/>
              <a:t>Система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</a:t>
            </a:r>
            <a:r>
              <a:rPr lang="ru-RU" dirty="0" err="1"/>
              <a:t>освіти</a:t>
            </a:r>
            <a:endParaRPr lang="ru-RU" dirty="0"/>
          </a:p>
        </p:txBody>
      </p:sp>
      <p:sp>
        <p:nvSpPr>
          <p:cNvPr id="6" name="Прямоугольник с двумя скругленными соседними углами 5"/>
          <p:cNvSpPr/>
          <p:nvPr/>
        </p:nvSpPr>
        <p:spPr>
          <a:xfrm>
            <a:off x="2065700" y="4268124"/>
            <a:ext cx="2722324" cy="1268850"/>
          </a:xfrm>
          <a:prstGeom prst="round2Same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108000"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43.</a:t>
            </a:r>
          </a:p>
          <a:p>
            <a:pPr algn="ctr"/>
            <a:r>
              <a:rPr lang="uk-UA" dirty="0"/>
              <a:t>Ліцензування освітньої діяльності</a:t>
            </a:r>
            <a:endParaRPr lang="ru-RU" dirty="0"/>
          </a:p>
        </p:txBody>
      </p:sp>
      <p:sp>
        <p:nvSpPr>
          <p:cNvPr id="7" name="Прямоугольник с двумя скругленными соседними углами 6"/>
          <p:cNvSpPr/>
          <p:nvPr/>
        </p:nvSpPr>
        <p:spPr>
          <a:xfrm>
            <a:off x="971600" y="3015446"/>
            <a:ext cx="2520280" cy="1271347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42.</a:t>
            </a:r>
          </a:p>
          <a:p>
            <a:pPr algn="ctr"/>
            <a:r>
              <a:rPr lang="uk-UA" dirty="0"/>
              <a:t>Академічна доброчесність</a:t>
            </a:r>
            <a:endParaRPr lang="ru-RU" dirty="0"/>
          </a:p>
        </p:txBody>
      </p:sp>
      <p:sp>
        <p:nvSpPr>
          <p:cNvPr id="8" name="Прямоугольник с двумя скругленными соседними углами 7"/>
          <p:cNvSpPr/>
          <p:nvPr/>
        </p:nvSpPr>
        <p:spPr>
          <a:xfrm>
            <a:off x="2987824" y="5536974"/>
            <a:ext cx="2664296" cy="1252678"/>
          </a:xfrm>
          <a:prstGeom prst="round2Same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44.</a:t>
            </a:r>
          </a:p>
          <a:p>
            <a:pPr algn="ctr"/>
            <a:r>
              <a:rPr lang="uk-UA" dirty="0"/>
              <a:t>Акредитація освітньої діяльності</a:t>
            </a:r>
            <a:endParaRPr lang="ru-RU" dirty="0"/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>
          <a:xfrm>
            <a:off x="4067944" y="1762768"/>
            <a:ext cx="2685096" cy="1252678"/>
          </a:xfrm>
          <a:prstGeom prst="round2Same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45.</a:t>
            </a:r>
          </a:p>
          <a:p>
            <a:pPr algn="ctr"/>
            <a:r>
              <a:rPr lang="uk-UA" dirty="0"/>
              <a:t>Інституційний аудит</a:t>
            </a:r>
            <a:endParaRPr lang="ru-RU" dirty="0"/>
          </a:p>
        </p:txBody>
      </p:sp>
      <p:sp>
        <p:nvSpPr>
          <p:cNvPr id="10" name="Прямоугольник с двумя скругленными соседними углами 9"/>
          <p:cNvSpPr/>
          <p:nvPr/>
        </p:nvSpPr>
        <p:spPr>
          <a:xfrm>
            <a:off x="5004048" y="3025105"/>
            <a:ext cx="2619463" cy="1252678"/>
          </a:xfrm>
          <a:prstGeom prst="round2Same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46.</a:t>
            </a:r>
          </a:p>
          <a:p>
            <a:pPr algn="ctr"/>
            <a:r>
              <a:rPr lang="uk-UA" dirty="0"/>
              <a:t>Інституційна акредитація</a:t>
            </a:r>
            <a:endParaRPr lang="ru-RU" dirty="0"/>
          </a:p>
        </p:txBody>
      </p:sp>
      <p:sp>
        <p:nvSpPr>
          <p:cNvPr id="11" name="Прямоугольник с двумя скругленными соседними углами 10"/>
          <p:cNvSpPr/>
          <p:nvPr/>
        </p:nvSpPr>
        <p:spPr>
          <a:xfrm>
            <a:off x="5940152" y="4268124"/>
            <a:ext cx="2667094" cy="1252678"/>
          </a:xfrm>
          <a:prstGeom prst="round2Same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108000"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47.</a:t>
            </a:r>
          </a:p>
          <a:p>
            <a:pPr algn="ctr"/>
            <a:r>
              <a:rPr lang="uk-UA" dirty="0"/>
              <a:t>Зовнішнє незалежне оцінювання</a:t>
            </a:r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>
          <a:xfrm>
            <a:off x="6637575" y="5536974"/>
            <a:ext cx="2520280" cy="1252678"/>
          </a:xfrm>
          <a:prstGeom prst="round2Same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Стаття</a:t>
            </a:r>
            <a:r>
              <a:rPr lang="ru-RU" dirty="0"/>
              <a:t> 48.</a:t>
            </a:r>
          </a:p>
          <a:p>
            <a:pPr algn="ctr"/>
            <a:r>
              <a:rPr lang="uk-UA" dirty="0"/>
              <a:t>Моніторинг якості освіти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2699792" y="1523726"/>
            <a:ext cx="3888432" cy="507362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6588224" y="1523726"/>
            <a:ext cx="2448272" cy="320141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>
            <a:extLst>
              <a:ext uri="{FF2B5EF4-FFF2-40B4-BE49-F238E27FC236}">
                <a16:creationId xmlns:a16="http://schemas.microsoft.com/office/drawing/2014/main" id="{CE3CE6FE-6CBC-F58D-BCBE-F4617C823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7863" r="10663" b="8956"/>
          <a:stretch/>
        </p:blipFill>
        <p:spPr bwMode="auto">
          <a:xfrm>
            <a:off x="-155579" y="4497394"/>
            <a:ext cx="2351315" cy="24208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68454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86800" cy="792088"/>
          </a:xfrm>
        </p:spPr>
        <p:txBody>
          <a:bodyPr lIns="36000" tIns="36000" rIns="36000" bIns="36000">
            <a:normAutofit/>
          </a:bodyPr>
          <a:lstStyle/>
          <a:p>
            <a:pPr algn="ctr"/>
            <a:r>
              <a:rPr lang="uk-UA" sz="3200" dirty="0">
                <a:solidFill>
                  <a:schemeClr val="tx1"/>
                </a:solidFill>
              </a:rPr>
              <a:t>Академічна доброчесність</a:t>
            </a:r>
            <a:endParaRPr lang="ru-RU" sz="32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7140" y="1484784"/>
            <a:ext cx="6657967" cy="4883996"/>
          </a:xfrm>
        </p:spPr>
        <p:txBody>
          <a:bodyPr lIns="36000" tIns="36000" rIns="36000" bIns="36000">
            <a:noAutofit/>
          </a:bodyPr>
          <a:lstStyle/>
          <a:p>
            <a:pPr marL="0" indent="0" algn="just">
              <a:buNone/>
            </a:pPr>
            <a:r>
              <a:rPr lang="uk-UA" sz="2400" b="1" dirty="0"/>
              <a:t>    </a:t>
            </a:r>
            <a:r>
              <a:rPr lang="uk-UA" sz="2000" b="1" dirty="0">
                <a:solidFill>
                  <a:schemeClr val="tx1"/>
                </a:solidFill>
              </a:rPr>
              <a:t>Академічна доброчесність </a:t>
            </a:r>
            <a:r>
              <a:rPr lang="uk-UA" sz="2000" dirty="0">
                <a:solidFill>
                  <a:schemeClr val="tx1"/>
                </a:solidFill>
              </a:rPr>
              <a:t>– </a:t>
            </a:r>
          </a:p>
          <a:p>
            <a:pPr marL="0" indent="0" algn="just">
              <a:buNone/>
            </a:pPr>
            <a:r>
              <a:rPr lang="uk-UA" sz="2000" dirty="0">
                <a:solidFill>
                  <a:schemeClr val="tx1"/>
                </a:solidFill>
              </a:rPr>
              <a:t>це сукупність етичних принципів та визначених законом правил, якими мають керуватися учасники освітнього процесу під час навчання, викладання та провадження наукової (творчої) діяльності з метою забезпечення довіри до результатів навчання та/або наукових (творчих) досягнень (</a:t>
            </a:r>
            <a:r>
              <a:rPr lang="uk-UA" sz="2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ЗУ про освіту</a:t>
            </a:r>
            <a:r>
              <a:rPr lang="uk-UA" sz="2000" dirty="0" smtClean="0">
                <a:solidFill>
                  <a:schemeClr val="tx1"/>
                </a:solidFill>
              </a:rPr>
              <a:t>)</a:t>
            </a:r>
            <a:endParaRPr lang="uk-UA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uk-UA" sz="2400" b="1" dirty="0"/>
              <a:t>    </a:t>
            </a:r>
          </a:p>
          <a:p>
            <a:pPr marL="0" indent="0" algn="just">
              <a:buNone/>
            </a:pPr>
            <a:r>
              <a:rPr lang="uk-UA" sz="2400" b="1" dirty="0">
                <a:solidFill>
                  <a:schemeClr val="tx1"/>
                </a:solidFill>
              </a:rPr>
              <a:t>    </a:t>
            </a:r>
            <a:r>
              <a:rPr lang="uk-UA" sz="2000" b="1" dirty="0">
                <a:solidFill>
                  <a:schemeClr val="tx1"/>
                </a:solidFill>
              </a:rPr>
              <a:t>Академічна доброчесність </a:t>
            </a:r>
            <a:r>
              <a:rPr lang="uk-UA" sz="2000" dirty="0">
                <a:solidFill>
                  <a:schemeClr val="tx1"/>
                </a:solidFill>
              </a:rPr>
              <a:t>– </a:t>
            </a:r>
          </a:p>
          <a:p>
            <a:pPr marL="0" indent="0" algn="just">
              <a:buNone/>
            </a:pPr>
            <a:r>
              <a:rPr lang="uk-UA" sz="2000" b="0" i="0" dirty="0">
                <a:solidFill>
                  <a:srgbClr val="222222"/>
                </a:solidFill>
                <a:effectLst/>
              </a:rPr>
              <a:t>дотримання п’яти фундаментальних цінностей: чесності, довіри, справедливості, поваги, відповідальності до дій (</a:t>
            </a:r>
            <a:r>
              <a:rPr lang="uk-UA" sz="2000" b="0" dirty="0">
                <a:solidFill>
                  <a:srgbClr val="222222"/>
                </a:solidFill>
                <a:effectLst/>
                <a:latin typeface="Bahnschrift Condensed" panose="020B0502040204020203" pitchFamily="34" charset="0"/>
              </a:rPr>
              <a:t>Міжнародний центр академічної доброчесності</a:t>
            </a:r>
            <a:r>
              <a:rPr lang="uk-UA" sz="2000" b="0" i="0" dirty="0">
                <a:solidFill>
                  <a:srgbClr val="222222"/>
                </a:solidFill>
                <a:effectLst/>
              </a:rPr>
              <a:t>)</a:t>
            </a:r>
            <a:endParaRPr lang="uk-UA" sz="2000" dirty="0">
              <a:solidFill>
                <a:schemeClr val="tx1"/>
              </a:solidFill>
            </a:endParaRPr>
          </a:p>
        </p:txBody>
      </p:sp>
      <p:pic>
        <p:nvPicPr>
          <p:cNvPr id="6" name="Picture 12" descr="C:\Users\pc1\Desktop\pointing_at_clipboard_PA_500_clr_4118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066" y="2564904"/>
            <a:ext cx="2051059" cy="324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9062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648072"/>
          </a:xfrm>
        </p:spPr>
        <p:txBody>
          <a:bodyPr lIns="36000" tIns="36000" rIns="36000" bIns="36000">
            <a:noAutofit/>
          </a:bodyPr>
          <a:lstStyle/>
          <a:p>
            <a:pPr algn="ctr"/>
            <a:r>
              <a:rPr lang="uk-UA" sz="2550" dirty="0">
                <a:solidFill>
                  <a:schemeClr val="tx1"/>
                </a:solidFill>
              </a:rPr>
              <a:t>Порушенням академічної доброчесності вважається</a:t>
            </a:r>
            <a:r>
              <a:rPr lang="ru-RU" sz="255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096224"/>
            <a:ext cx="7740352" cy="5688632"/>
          </a:xfrm>
        </p:spPr>
        <p:txBody>
          <a:bodyPr>
            <a:noAutofit/>
          </a:bodyPr>
          <a:lstStyle/>
          <a:p>
            <a:pPr algn="just"/>
            <a:r>
              <a:rPr lang="uk-UA" sz="2000" b="1" dirty="0">
                <a:solidFill>
                  <a:schemeClr val="tx1"/>
                </a:solidFill>
              </a:rPr>
              <a:t>академічний плагіат </a:t>
            </a:r>
            <a:r>
              <a:rPr lang="uk-UA" sz="2000" dirty="0">
                <a:solidFill>
                  <a:schemeClr val="tx1"/>
                </a:solidFill>
              </a:rPr>
              <a:t>- оприлюднення (частково або повністю) наукових (творчих) результатів, отриманих іншими особами, як результатів власного дослідження (творчості), та/або відтворення опублікованих текстів (оприлюднених творів мистецтва) інших авторів без зазначення </a:t>
            </a:r>
            <a:r>
              <a:rPr lang="uk-UA" sz="2000" dirty="0" smtClean="0">
                <a:solidFill>
                  <a:schemeClr val="tx1"/>
                </a:solidFill>
              </a:rPr>
              <a:t>авторства</a:t>
            </a:r>
          </a:p>
          <a:p>
            <a:pPr algn="just"/>
            <a:endParaRPr lang="uk-UA" sz="2000" dirty="0" smtClean="0">
              <a:solidFill>
                <a:schemeClr val="tx1"/>
              </a:solidFill>
            </a:endParaRPr>
          </a:p>
          <a:p>
            <a:pPr algn="just"/>
            <a:r>
              <a:rPr lang="uk-UA" sz="2000" b="1" i="1" dirty="0" smtClean="0">
                <a:solidFill>
                  <a:srgbClr val="FF0000"/>
                </a:solidFill>
                <a:cs typeface="Calibri" panose="020F0502020204030204" pitchFamily="34" charset="0"/>
              </a:rPr>
              <a:t>Кембриджський </a:t>
            </a:r>
            <a:r>
              <a:rPr lang="uk-UA" sz="2000" b="1" i="1" dirty="0">
                <a:solidFill>
                  <a:srgbClr val="FF0000"/>
                </a:solidFill>
                <a:cs typeface="Calibri" panose="020F0502020204030204" pitchFamily="34" charset="0"/>
              </a:rPr>
              <a:t>університет називає академічним плагіатом </a:t>
            </a:r>
            <a:r>
              <a:rPr lang="uk-UA" sz="2000" dirty="0">
                <a:solidFill>
                  <a:schemeClr val="tx1"/>
                </a:solidFill>
                <a:cs typeface="Calibri" panose="020F0502020204030204" pitchFamily="34" charset="0"/>
              </a:rPr>
              <a:t>«подання як власної праці незалежно від наявності наміру обманювати, роботи, яка частково чи цілком запозичена з чужої праці без належного посилання</a:t>
            </a:r>
            <a:r>
              <a:rPr lang="uk-UA" sz="2000" dirty="0" smtClean="0">
                <a:solidFill>
                  <a:schemeClr val="tx1"/>
                </a:solidFill>
                <a:cs typeface="Calibri" panose="020F0502020204030204" pitchFamily="34" charset="0"/>
              </a:rPr>
              <a:t>»</a:t>
            </a:r>
          </a:p>
          <a:p>
            <a:pPr algn="just"/>
            <a:endParaRPr lang="uk-UA" sz="20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algn="just"/>
            <a:r>
              <a:rPr lang="uk-UA" sz="2000" b="1" i="1" dirty="0" smtClean="0">
                <a:solidFill>
                  <a:srgbClr val="FF0000"/>
                </a:solidFill>
                <a:cs typeface="Calibri" panose="020F0502020204030204" pitchFamily="34" charset="0"/>
              </a:rPr>
              <a:t>Стенфордський університет </a:t>
            </a:r>
            <a:r>
              <a:rPr lang="uk-UA" sz="2000" b="1" i="1" dirty="0">
                <a:solidFill>
                  <a:srgbClr val="FF0000"/>
                </a:solidFill>
                <a:cs typeface="Calibri" panose="020F0502020204030204" pitchFamily="34" charset="0"/>
              </a:rPr>
              <a:t>академічним плагіатом </a:t>
            </a:r>
            <a:r>
              <a:rPr lang="uk-UA" sz="2000" b="1" i="1" dirty="0" smtClean="0">
                <a:solidFill>
                  <a:srgbClr val="FF0000"/>
                </a:solidFill>
                <a:cs typeface="Calibri" panose="020F0502020204030204" pitchFamily="34" charset="0"/>
              </a:rPr>
              <a:t>називає </a:t>
            </a:r>
            <a:r>
              <a:rPr lang="uk-UA" sz="2000" dirty="0">
                <a:solidFill>
                  <a:srgbClr val="333333"/>
                </a:solidFill>
                <a:cs typeface="Calibri" panose="020F0502020204030204" pitchFamily="34" charset="0"/>
              </a:rPr>
              <a:t>«</a:t>
            </a:r>
            <a:r>
              <a:rPr lang="uk-UA" sz="2000" dirty="0">
                <a:solidFill>
                  <a:schemeClr val="tx1"/>
                </a:solidFill>
                <a:cs typeface="Calibri" panose="020F0502020204030204" pitchFamily="34" charset="0"/>
              </a:rPr>
              <a:t>використання без надання обґрунтованого та належного цитування або визнання автором чи джерелом оригінальної роботи іншої людини незалежно від того, чи є ця робота кодом, формулою, ідеєю, мовою, дослідженням, стратегією, текстом тощо»</a:t>
            </a:r>
          </a:p>
          <a:p>
            <a:pPr algn="just"/>
            <a:endParaRPr lang="uk-UA" sz="2200" dirty="0">
              <a:solidFill>
                <a:schemeClr val="tx1"/>
              </a:solidFill>
            </a:endParaRPr>
          </a:p>
        </p:txBody>
      </p:sp>
      <p:pic>
        <p:nvPicPr>
          <p:cNvPr id="5" name="Picture 10" descr="C:\Users\pc1\Desktop\93118993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2530340"/>
            <a:ext cx="1847736" cy="162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1031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648072"/>
          </a:xfrm>
        </p:spPr>
        <p:txBody>
          <a:bodyPr lIns="36000" tIns="36000" rIns="36000" bIns="36000">
            <a:noAutofit/>
          </a:bodyPr>
          <a:lstStyle/>
          <a:p>
            <a:pPr algn="ctr"/>
            <a:r>
              <a:rPr lang="uk-UA" sz="2550" dirty="0">
                <a:solidFill>
                  <a:schemeClr val="tx1"/>
                </a:solidFill>
              </a:rPr>
              <a:t>Порушенням академічної доброчесності вважається</a:t>
            </a:r>
            <a:r>
              <a:rPr lang="ru-RU" sz="255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96224"/>
            <a:ext cx="7128792" cy="5688632"/>
          </a:xfrm>
        </p:spPr>
        <p:txBody>
          <a:bodyPr>
            <a:noAutofit/>
          </a:bodyPr>
          <a:lstStyle/>
          <a:p>
            <a:pPr algn="just"/>
            <a:r>
              <a:rPr lang="uk-UA" sz="2200" b="1" dirty="0" err="1">
                <a:solidFill>
                  <a:schemeClr val="tx1"/>
                </a:solidFill>
              </a:rPr>
              <a:t>самоплагіат</a:t>
            </a:r>
            <a:r>
              <a:rPr lang="uk-UA" sz="2200" b="1" dirty="0">
                <a:solidFill>
                  <a:schemeClr val="tx1"/>
                </a:solidFill>
              </a:rPr>
              <a:t> -</a:t>
            </a:r>
            <a:r>
              <a:rPr lang="uk-UA" sz="2200" dirty="0">
                <a:solidFill>
                  <a:schemeClr val="tx1"/>
                </a:solidFill>
              </a:rPr>
              <a:t> оприлюднення (частково або повністю) власних раніше опублікованих наукових результатів,  як нових наукових результатів;</a:t>
            </a:r>
            <a:endParaRPr lang="uk-UA" sz="2200" b="1" dirty="0">
              <a:solidFill>
                <a:schemeClr val="tx1"/>
              </a:solidFill>
            </a:endParaRPr>
          </a:p>
          <a:p>
            <a:pPr algn="just"/>
            <a:r>
              <a:rPr lang="uk-UA" sz="2200" b="1" dirty="0" smtClean="0">
                <a:solidFill>
                  <a:schemeClr val="tx1"/>
                </a:solidFill>
              </a:rPr>
              <a:t>обман </a:t>
            </a:r>
            <a:r>
              <a:rPr lang="uk-UA" sz="2200" b="1" dirty="0">
                <a:solidFill>
                  <a:schemeClr val="tx1"/>
                </a:solidFill>
              </a:rPr>
              <a:t>-</a:t>
            </a:r>
            <a:r>
              <a:rPr lang="uk-UA" sz="2200" dirty="0">
                <a:solidFill>
                  <a:schemeClr val="tx1"/>
                </a:solidFill>
              </a:rPr>
              <a:t> надання завідомо неправдивої інформації стосовно власної освітньої (наукової, творчої) діяльності чи організації </a:t>
            </a:r>
            <a:r>
              <a:rPr lang="uk-UA" sz="2200" dirty="0" smtClean="0">
                <a:solidFill>
                  <a:schemeClr val="tx1"/>
                </a:solidFill>
              </a:rPr>
              <a:t>освітнього </a:t>
            </a:r>
            <a:r>
              <a:rPr lang="uk-UA" sz="2200" dirty="0">
                <a:solidFill>
                  <a:schemeClr val="tx1"/>
                </a:solidFill>
              </a:rPr>
              <a:t>процесу; формами обману є, зокрема, академічний плагіат, </a:t>
            </a:r>
            <a:r>
              <a:rPr lang="uk-UA" sz="2200" dirty="0" err="1">
                <a:solidFill>
                  <a:schemeClr val="tx1"/>
                </a:solidFill>
              </a:rPr>
              <a:t>самоплагіат</a:t>
            </a:r>
            <a:r>
              <a:rPr lang="uk-UA" sz="2200" dirty="0">
                <a:solidFill>
                  <a:schemeClr val="tx1"/>
                </a:solidFill>
              </a:rPr>
              <a:t>, фабрикація, фальсифікація та списування; </a:t>
            </a:r>
            <a:endParaRPr lang="uk-UA" sz="2200" b="1" dirty="0">
              <a:solidFill>
                <a:schemeClr val="tx1"/>
              </a:solidFill>
            </a:endParaRPr>
          </a:p>
          <a:p>
            <a:pPr algn="just"/>
            <a:r>
              <a:rPr lang="uk-UA" sz="2200" b="1" dirty="0">
                <a:solidFill>
                  <a:schemeClr val="tx1"/>
                </a:solidFill>
              </a:rPr>
              <a:t>списування </a:t>
            </a:r>
            <a:r>
              <a:rPr lang="uk-UA" sz="2200" dirty="0">
                <a:solidFill>
                  <a:schemeClr val="tx1"/>
                </a:solidFill>
              </a:rPr>
              <a:t>- виконання письмових робіт із залученням зовнішніх джерел інформації, крім дозволених для використання, зокрема під час оцінювання результатів навчання;</a:t>
            </a:r>
          </a:p>
        </p:txBody>
      </p:sp>
      <p:pic>
        <p:nvPicPr>
          <p:cNvPr id="5" name="Picture 10" descr="C:\Users\pc1\Desktop\93118993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852936"/>
            <a:ext cx="2135768" cy="187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256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648072"/>
          </a:xfrm>
        </p:spPr>
        <p:txBody>
          <a:bodyPr lIns="36000" tIns="36000" rIns="36000" bIns="36000">
            <a:noAutofit/>
          </a:bodyPr>
          <a:lstStyle/>
          <a:p>
            <a:pPr algn="ctr"/>
            <a:r>
              <a:rPr lang="uk-UA" sz="2550" dirty="0">
                <a:solidFill>
                  <a:schemeClr val="tx1"/>
                </a:solidFill>
              </a:rPr>
              <a:t>Порушенням академічної доброчесності вважається: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5657" y="1052736"/>
            <a:ext cx="7560840" cy="5805263"/>
          </a:xfrm>
        </p:spPr>
        <p:txBody>
          <a:bodyPr>
            <a:noAutofit/>
          </a:bodyPr>
          <a:lstStyle/>
          <a:p>
            <a:pPr algn="just"/>
            <a:r>
              <a:rPr lang="uk-UA" sz="2100" b="1" dirty="0">
                <a:solidFill>
                  <a:schemeClr val="tx1"/>
                </a:solidFill>
              </a:rPr>
              <a:t>фальсифікація -</a:t>
            </a:r>
            <a:r>
              <a:rPr lang="uk-UA" sz="2100" dirty="0">
                <a:solidFill>
                  <a:schemeClr val="tx1"/>
                </a:solidFill>
              </a:rPr>
              <a:t> фрагменти роботи, наприклад, статистичні показники,  які були вигадані або невірно вказані як результат власної роботи</a:t>
            </a:r>
            <a:r>
              <a:rPr lang="uk-UA" sz="2100" dirty="0" smtClean="0">
                <a:solidFill>
                  <a:schemeClr val="tx1"/>
                </a:solidFill>
              </a:rPr>
              <a:t>;</a:t>
            </a:r>
          </a:p>
          <a:p>
            <a:pPr marL="0" indent="0" algn="just">
              <a:buNone/>
            </a:pPr>
            <a:endParaRPr lang="uk-UA" sz="21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uk-UA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Офіс доброчесності досліджень Департаменту охорони здоров'я та соціального забезпечення США називає фальсифікацією </a:t>
            </a:r>
            <a:r>
              <a:rPr lang="uk-UA" sz="2000" dirty="0">
                <a:solidFill>
                  <a:schemeClr val="tx1"/>
                </a:solidFill>
                <a:cs typeface="Calibri" panose="020F0502020204030204" pitchFamily="34" charset="0"/>
              </a:rPr>
              <a:t>«маніпулювання матеріалами досліджень, обладнанням чи процесами, а також зміни чи пропуски даних </a:t>
            </a:r>
            <a:r>
              <a:rPr lang="uk-UA" sz="2000" dirty="0" smtClean="0">
                <a:solidFill>
                  <a:schemeClr val="tx1"/>
                </a:solidFill>
                <a:cs typeface="Calibri" panose="020F0502020204030204" pitchFamily="34" charset="0"/>
              </a:rPr>
              <a:t>таким </a:t>
            </a:r>
            <a:r>
              <a:rPr lang="uk-UA" sz="2000" dirty="0">
                <a:solidFill>
                  <a:schemeClr val="tx1"/>
                </a:solidFill>
                <a:cs typeface="Calibri" panose="020F0502020204030204" pitchFamily="34" charset="0"/>
              </a:rPr>
              <a:t>чином, що дослідження будуть неточно відображені у публікації про них»</a:t>
            </a:r>
            <a:endParaRPr lang="uk-UA" sz="2000" dirty="0" smtClean="0">
              <a:solidFill>
                <a:schemeClr val="tx1"/>
              </a:solidFill>
            </a:endParaRPr>
          </a:p>
          <a:p>
            <a:pPr algn="just"/>
            <a:endParaRPr lang="uk-UA" sz="2100" dirty="0">
              <a:solidFill>
                <a:schemeClr val="tx1"/>
              </a:solidFill>
            </a:endParaRPr>
          </a:p>
          <a:p>
            <a:pPr algn="just"/>
            <a:r>
              <a:rPr lang="uk-UA" sz="2100" b="1" dirty="0">
                <a:solidFill>
                  <a:schemeClr val="tx1"/>
                </a:solidFill>
              </a:rPr>
              <a:t>хабарництво </a:t>
            </a:r>
            <a:r>
              <a:rPr lang="uk-UA" sz="2100" dirty="0">
                <a:solidFill>
                  <a:schemeClr val="tx1"/>
                </a:solidFill>
              </a:rPr>
              <a:t>- надання </a:t>
            </a:r>
            <a:r>
              <a:rPr lang="uk-UA" sz="2100" dirty="0" smtClean="0">
                <a:solidFill>
                  <a:schemeClr val="tx1"/>
                </a:solidFill>
              </a:rPr>
              <a:t> </a:t>
            </a:r>
            <a:r>
              <a:rPr lang="uk-UA" sz="2100" dirty="0">
                <a:solidFill>
                  <a:schemeClr val="tx1"/>
                </a:solidFill>
              </a:rPr>
              <a:t>учасником освітнього процесу чи пропозиція щодо надання (отримання) коштів, майна, послуг, пільг чи будь-яких інших благ матеріального або нематеріального характеру з метою отримання неправомірної переваги в освітньому процесі;</a:t>
            </a:r>
            <a:r>
              <a:rPr lang="uk-UA" sz="2100" b="1" dirty="0">
                <a:solidFill>
                  <a:schemeClr val="tx1"/>
                </a:solidFill>
              </a:rPr>
              <a:t> </a:t>
            </a:r>
          </a:p>
          <a:p>
            <a:pPr algn="just"/>
            <a:endParaRPr lang="uk-UA" sz="2100" dirty="0" smtClean="0">
              <a:solidFill>
                <a:schemeClr val="tx1"/>
              </a:solidFill>
            </a:endParaRPr>
          </a:p>
          <a:p>
            <a:pPr algn="just"/>
            <a:endParaRPr lang="uk-UA" sz="2100" dirty="0">
              <a:solidFill>
                <a:schemeClr val="tx1"/>
              </a:solidFill>
            </a:endParaRPr>
          </a:p>
          <a:p>
            <a:pPr algn="just"/>
            <a:endParaRPr lang="uk-UA" sz="2100" dirty="0" smtClean="0">
              <a:solidFill>
                <a:schemeClr val="tx1"/>
              </a:solidFill>
            </a:endParaRPr>
          </a:p>
          <a:p>
            <a:pPr algn="just"/>
            <a:endParaRPr lang="uk-UA" sz="2100" dirty="0">
              <a:solidFill>
                <a:schemeClr val="tx1"/>
              </a:solidFill>
            </a:endParaRPr>
          </a:p>
        </p:txBody>
      </p:sp>
      <p:pic>
        <p:nvPicPr>
          <p:cNvPr id="6" name="Picture 14" descr="C:\Users\pc1\Desktop\arrow_direction_spin_right_17577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3344" y="2276872"/>
            <a:ext cx="2025225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9925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648072"/>
          </a:xfrm>
        </p:spPr>
        <p:txBody>
          <a:bodyPr lIns="36000" tIns="36000" rIns="36000" bIns="36000">
            <a:noAutofit/>
          </a:bodyPr>
          <a:lstStyle/>
          <a:p>
            <a:pPr algn="ctr"/>
            <a:r>
              <a:rPr lang="uk-UA" sz="2550" dirty="0">
                <a:solidFill>
                  <a:schemeClr val="tx1"/>
                </a:solidFill>
              </a:rPr>
              <a:t>Порушенням академічної доброчесності вважається: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3687" y="1052736"/>
            <a:ext cx="7272809" cy="5805263"/>
          </a:xfrm>
        </p:spPr>
        <p:txBody>
          <a:bodyPr>
            <a:noAutofit/>
          </a:bodyPr>
          <a:lstStyle/>
          <a:p>
            <a:pPr algn="just"/>
            <a:r>
              <a:rPr lang="uk-UA" sz="2100" b="1" dirty="0" smtClean="0">
                <a:solidFill>
                  <a:schemeClr val="tx1"/>
                </a:solidFill>
              </a:rPr>
              <a:t>фабрикація</a:t>
            </a:r>
            <a:r>
              <a:rPr lang="uk-UA" sz="2100" dirty="0" smtClean="0">
                <a:solidFill>
                  <a:schemeClr val="tx1"/>
                </a:solidFill>
              </a:rPr>
              <a:t> </a:t>
            </a:r>
            <a:r>
              <a:rPr lang="uk-UA" sz="2100" dirty="0">
                <a:solidFill>
                  <a:schemeClr val="tx1"/>
                </a:solidFill>
              </a:rPr>
              <a:t>- вигадування даних чи фактів, що використовуються в освітньому процесі чи наукових дослідженнях</a:t>
            </a:r>
            <a:r>
              <a:rPr lang="uk-UA" sz="2100" dirty="0" smtClean="0">
                <a:solidFill>
                  <a:schemeClr val="tx1"/>
                </a:solidFill>
              </a:rPr>
              <a:t>;</a:t>
            </a:r>
          </a:p>
          <a:p>
            <a:pPr algn="just"/>
            <a:endParaRPr lang="uk-UA" sz="2100" b="1" dirty="0">
              <a:solidFill>
                <a:schemeClr val="tx1"/>
              </a:solidFill>
            </a:endParaRPr>
          </a:p>
          <a:p>
            <a:pPr algn="just"/>
            <a:r>
              <a:rPr lang="uk-UA" sz="2100" b="1" i="1" dirty="0">
                <a:solidFill>
                  <a:srgbClr val="FF0000"/>
                </a:solidFill>
                <a:cs typeface="Calibri" panose="020F0502020204030204" pitchFamily="34" charset="0"/>
              </a:rPr>
              <a:t>Університет штату Пенсильванія розглядає фабрикацію </a:t>
            </a:r>
            <a:r>
              <a:rPr lang="uk-UA" sz="2100" dirty="0">
                <a:solidFill>
                  <a:schemeClr val="tx1"/>
                </a:solidFill>
                <a:cs typeface="Calibri" panose="020F0502020204030204" pitchFamily="34" charset="0"/>
              </a:rPr>
              <a:t>як «побудову та/або додавання даних, спостережень чи характеристик, які ніколи не отримували при збиранні даних або при виконанні експериментів</a:t>
            </a:r>
            <a:r>
              <a:rPr lang="uk-UA" sz="2100" dirty="0" smtClean="0">
                <a:solidFill>
                  <a:schemeClr val="tx1"/>
                </a:solidFill>
                <a:cs typeface="Calibri" panose="020F0502020204030204" pitchFamily="34" charset="0"/>
              </a:rPr>
              <a:t>»</a:t>
            </a:r>
          </a:p>
          <a:p>
            <a:pPr marL="0" indent="0" algn="just">
              <a:buNone/>
            </a:pPr>
            <a:endParaRPr lang="uk-UA" sz="20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algn="just"/>
            <a:r>
              <a:rPr lang="ru-RU" sz="2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Видавництво</a:t>
            </a:r>
            <a:r>
              <a:rPr lang="ru-RU" sz="2100" b="1" i="1" dirty="0">
                <a:solidFill>
                  <a:srgbClr val="FF0000"/>
                </a:solidFill>
                <a:cs typeface="Calibri" panose="020F0502020204030204" pitchFamily="34" charset="0"/>
              </a:rPr>
              <a:t> «Шпрингер» </a:t>
            </a:r>
            <a:r>
              <a:rPr lang="ru-RU" sz="2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визначає</a:t>
            </a:r>
            <a:r>
              <a:rPr lang="ru-RU" sz="2100" b="1" i="1" dirty="0">
                <a:solidFill>
                  <a:srgbClr val="FF0000"/>
                </a:solidFill>
                <a:cs typeface="Calibri" panose="020F0502020204030204" pitchFamily="34" charset="0"/>
              </a:rPr>
              <a:t> </a:t>
            </a:r>
            <a:r>
              <a:rPr lang="ru-RU" sz="2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фабрикацію</a:t>
            </a:r>
            <a:r>
              <a:rPr lang="ru-RU" sz="2100" b="1" i="1" dirty="0">
                <a:solidFill>
                  <a:srgbClr val="FF0000"/>
                </a:solidFill>
                <a:cs typeface="Calibri" panose="020F0502020204030204" pitchFamily="34" charset="0"/>
              </a:rPr>
              <a:t> </a:t>
            </a:r>
            <a:r>
              <a:rPr lang="ru-RU" sz="2100" dirty="0">
                <a:solidFill>
                  <a:schemeClr val="tx1"/>
                </a:solidFill>
                <a:cs typeface="Calibri" panose="020F0502020204030204" pitchFamily="34" charset="0"/>
              </a:rPr>
              <a:t>як «</a:t>
            </a:r>
            <a:r>
              <a:rPr lang="ru-RU" sz="2100" dirty="0" err="1">
                <a:solidFill>
                  <a:schemeClr val="tx1"/>
                </a:solidFill>
                <a:cs typeface="Calibri" panose="020F0502020204030204" pitchFamily="34" charset="0"/>
              </a:rPr>
              <a:t>вигадування</a:t>
            </a:r>
            <a:r>
              <a:rPr lang="ru-RU" sz="2100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ru-RU" sz="2100" dirty="0" err="1">
                <a:solidFill>
                  <a:schemeClr val="tx1"/>
                </a:solidFill>
                <a:cs typeface="Calibri" panose="020F0502020204030204" pitchFamily="34" charset="0"/>
              </a:rPr>
              <a:t>результатів</a:t>
            </a:r>
            <a:r>
              <a:rPr lang="ru-RU" sz="2100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ru-RU" sz="2100" dirty="0" err="1">
                <a:solidFill>
                  <a:schemeClr val="tx1"/>
                </a:solidFill>
                <a:cs typeface="Calibri" panose="020F0502020204030204" pitchFamily="34" charset="0"/>
              </a:rPr>
              <a:t>досліджень</a:t>
            </a:r>
            <a:r>
              <a:rPr lang="ru-RU" sz="2100" dirty="0">
                <a:solidFill>
                  <a:schemeClr val="tx1"/>
                </a:solidFill>
                <a:cs typeface="Calibri" panose="020F0502020204030204" pitchFamily="34" charset="0"/>
              </a:rPr>
              <a:t>»</a:t>
            </a:r>
            <a:endParaRPr lang="uk-UA" sz="21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algn="just"/>
            <a:endParaRPr lang="uk-UA" sz="2100" b="1" dirty="0">
              <a:solidFill>
                <a:schemeClr val="tx1"/>
              </a:solidFill>
            </a:endParaRPr>
          </a:p>
          <a:p>
            <a:pPr algn="just"/>
            <a:r>
              <a:rPr lang="uk-UA" sz="2100" b="1" dirty="0" smtClean="0">
                <a:solidFill>
                  <a:schemeClr val="tx1"/>
                </a:solidFill>
              </a:rPr>
              <a:t>необ’єктивне </a:t>
            </a:r>
            <a:r>
              <a:rPr lang="uk-UA" sz="2100" b="1" dirty="0">
                <a:solidFill>
                  <a:schemeClr val="tx1"/>
                </a:solidFill>
              </a:rPr>
              <a:t>оцінювання </a:t>
            </a:r>
            <a:r>
              <a:rPr lang="uk-UA" sz="2100" dirty="0">
                <a:solidFill>
                  <a:schemeClr val="tx1"/>
                </a:solidFill>
              </a:rPr>
              <a:t>- свідоме завищення або заниження оцінки результатів навчання здобувачів </a:t>
            </a:r>
            <a:r>
              <a:rPr lang="uk-UA" sz="2100" dirty="0" smtClean="0">
                <a:solidFill>
                  <a:schemeClr val="tx1"/>
                </a:solidFill>
              </a:rPr>
              <a:t>освіти</a:t>
            </a:r>
            <a:endParaRPr lang="ru-RU" sz="2100" dirty="0">
              <a:solidFill>
                <a:schemeClr val="tx1"/>
              </a:solidFill>
            </a:endParaRPr>
          </a:p>
        </p:txBody>
      </p:sp>
      <p:pic>
        <p:nvPicPr>
          <p:cNvPr id="6" name="Picture 14" descr="C:\Users\pc1\Desktop\arrow_direction_spin_right_17577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872"/>
            <a:ext cx="23812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2461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uk-UA" sz="2800" dirty="0" smtClean="0">
                <a:effectLst/>
              </a:rPr>
              <a:t>Дотримання академічної доброчесності педагогічними, науково-педагогічними та науковими працівниками передбачає</a:t>
            </a:r>
            <a:r>
              <a:rPr lang="ru-RU" sz="2800" dirty="0" smtClean="0">
                <a:effectLst/>
              </a:rPr>
              <a:t>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1519" y="1700808"/>
            <a:ext cx="868680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uk-UA" sz="2200" dirty="0" smtClean="0"/>
              <a:t>посилання на джерела інформації у разі використання ідей, розробок, тверджень, відомостей;</a:t>
            </a:r>
          </a:p>
          <a:p>
            <a:pPr algn="just"/>
            <a:endParaRPr lang="uk-UA" sz="2200" dirty="0" smtClean="0"/>
          </a:p>
          <a:p>
            <a:pPr algn="just"/>
            <a:r>
              <a:rPr lang="uk-UA" sz="2200" dirty="0" smtClean="0"/>
              <a:t>дотримання норм законодавства про авторське право і суміжні права;</a:t>
            </a:r>
          </a:p>
          <a:p>
            <a:pPr algn="just"/>
            <a:endParaRPr lang="uk-UA" sz="2200" dirty="0" smtClean="0"/>
          </a:p>
          <a:p>
            <a:pPr algn="just"/>
            <a:r>
              <a:rPr lang="uk-UA" sz="2200" dirty="0" smtClean="0"/>
              <a:t>надання достовірної інформації про методики і результати досліджень, джерела використаної інформації та власну педагогічну (науково-педагогічну, творчу) діяльність;</a:t>
            </a:r>
          </a:p>
          <a:p>
            <a:pPr algn="just"/>
            <a:endParaRPr lang="uk-UA" sz="2200" dirty="0" smtClean="0"/>
          </a:p>
          <a:p>
            <a:pPr algn="just"/>
            <a:r>
              <a:rPr lang="uk-UA" sz="2200" dirty="0" smtClean="0"/>
              <a:t>контроль за дотриманням академічної доброчесності здобувачами освіти;</a:t>
            </a:r>
          </a:p>
          <a:p>
            <a:pPr algn="just"/>
            <a:endParaRPr lang="uk-UA" sz="2200" dirty="0" smtClean="0"/>
          </a:p>
          <a:p>
            <a:pPr algn="just"/>
            <a:r>
              <a:rPr lang="uk-UA" sz="2200" dirty="0" smtClean="0"/>
              <a:t>об’єктивне оцінювання результатів навчання</a:t>
            </a:r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https://</a:t>
            </a:r>
            <a:r>
              <a:rPr lang="en-US" sz="1400" dirty="0" smtClean="0">
                <a:hlinkClick r:id="rId2"/>
              </a:rPr>
              <a:t>zakon.rada.gov.ua/laws/show/2145-19#Text</a:t>
            </a:r>
            <a:endParaRPr lang="uk-UA" sz="1400" dirty="0" smtClean="0"/>
          </a:p>
          <a:p>
            <a:pPr marL="0" indent="0">
              <a:buNone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176605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260648"/>
            <a:ext cx="8686800" cy="838200"/>
          </a:xfrm>
        </p:spPr>
        <p:txBody>
          <a:bodyPr>
            <a:noAutofit/>
          </a:bodyPr>
          <a:lstStyle/>
          <a:p>
            <a:pPr algn="ctr"/>
            <a:r>
              <a:rPr lang="uk-UA" sz="2800" dirty="0" smtClean="0">
                <a:effectLst/>
              </a:rPr>
              <a:t>Дотримання академічної доброчесності здобувачами освіти передбачає:</a:t>
            </a:r>
            <a:endParaRPr lang="uk-UA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4971182"/>
          </a:xfrm>
        </p:spPr>
        <p:txBody>
          <a:bodyPr>
            <a:normAutofit lnSpcReduction="10000"/>
          </a:bodyPr>
          <a:lstStyle/>
          <a:p>
            <a:pPr algn="just"/>
            <a:r>
              <a:rPr lang="uk-UA" sz="2000" dirty="0" smtClean="0"/>
              <a:t>самостійне виконання навчальних завдань, завдань поточного та підсумкового контролю результатів навчання (для осіб з особливими освітніми потребами ця вимога застосовується з урахуванням їхніх індивідуальних потреб і можливостей);</a:t>
            </a:r>
          </a:p>
          <a:p>
            <a:pPr algn="just"/>
            <a:endParaRPr lang="uk-UA" sz="2000" dirty="0" smtClean="0"/>
          </a:p>
          <a:p>
            <a:pPr algn="just"/>
            <a:r>
              <a:rPr lang="uk-UA" sz="2000" dirty="0" smtClean="0"/>
              <a:t>посилання на джерела інформації у разі використання ідей, розробок, тверджень, відомостей;</a:t>
            </a:r>
          </a:p>
          <a:p>
            <a:pPr algn="just"/>
            <a:endParaRPr lang="uk-UA" sz="2000" dirty="0" smtClean="0"/>
          </a:p>
          <a:p>
            <a:pPr algn="just"/>
            <a:r>
              <a:rPr lang="uk-UA" sz="2000" dirty="0" smtClean="0"/>
              <a:t>дотримання норм законодавства про авторське право і суміжні права;</a:t>
            </a:r>
          </a:p>
          <a:p>
            <a:pPr marL="0" indent="0" algn="just">
              <a:buNone/>
            </a:pPr>
            <a:endParaRPr lang="uk-UA" sz="2000" dirty="0" smtClean="0"/>
          </a:p>
          <a:p>
            <a:pPr algn="just"/>
            <a:r>
              <a:rPr lang="uk-UA" sz="2000" dirty="0" smtClean="0"/>
              <a:t>надання достовірної інформації про результати власної навчальної (наукової, творчої) діяльності, використані методики досліджень і джерела інформації.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en-US" sz="1300" dirty="0">
                <a:hlinkClick r:id="rId2"/>
              </a:rPr>
              <a:t>https://</a:t>
            </a:r>
            <a:r>
              <a:rPr lang="en-US" sz="1300" dirty="0" smtClean="0">
                <a:hlinkClick r:id="rId2"/>
              </a:rPr>
              <a:t>zakon.rada.gov.ua/laws/show/2145-19#Text</a:t>
            </a:r>
            <a:endParaRPr lang="uk-UA" sz="1300" dirty="0" smtClean="0"/>
          </a:p>
          <a:p>
            <a:pPr marL="0" indent="0">
              <a:buNone/>
            </a:pPr>
            <a:endParaRPr lang="ru-RU" sz="13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62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4832" y="0"/>
            <a:ext cx="7726502" cy="1224136"/>
          </a:xfrm>
        </p:spPr>
        <p:txBody>
          <a:bodyPr lIns="36000" tIns="36000" rIns="36000" bIns="36000">
            <a:normAutofit fontScale="90000"/>
          </a:bodyPr>
          <a:lstStyle/>
          <a:p>
            <a:pPr algn="ctr"/>
            <a:r>
              <a:rPr lang="uk-UA" sz="3200" dirty="0"/>
              <a:t>Серед санкцій</a:t>
            </a:r>
            <a:r>
              <a:rPr lang="ru-RU" sz="3200" dirty="0"/>
              <a:t> за </a:t>
            </a:r>
            <a:r>
              <a:rPr lang="uk-UA" sz="3200" dirty="0"/>
              <a:t>порушення</a:t>
            </a:r>
            <a:r>
              <a:rPr lang="ru-RU" sz="3200" dirty="0"/>
              <a:t>  </a:t>
            </a:r>
            <a:r>
              <a:rPr lang="uk-UA" sz="3200" dirty="0"/>
              <a:t>академічної</a:t>
            </a:r>
            <a:r>
              <a:rPr lang="ru-RU" sz="3200" dirty="0"/>
              <a:t> </a:t>
            </a:r>
            <a:r>
              <a:rPr lang="uk-UA" sz="3200" dirty="0"/>
              <a:t>доброчесності</a:t>
            </a:r>
            <a:r>
              <a:rPr lang="ru-RU" sz="3200" dirty="0"/>
              <a:t>   </a:t>
            </a:r>
            <a:r>
              <a:rPr lang="uk-UA" sz="3200" dirty="0"/>
              <a:t>наступні</a:t>
            </a:r>
            <a:r>
              <a:rPr lang="ru-RU" sz="3200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24744"/>
            <a:ext cx="7344816" cy="5733256"/>
          </a:xfrm>
        </p:spPr>
        <p:txBody>
          <a:bodyPr lIns="36000" tIns="36000" rIns="36000" bIns="36000">
            <a:noAutofit/>
          </a:bodyPr>
          <a:lstStyle/>
          <a:p>
            <a:pPr algn="just"/>
            <a:r>
              <a:rPr lang="ru-RU" sz="2000" b="1" dirty="0">
                <a:solidFill>
                  <a:schemeClr val="tx1"/>
                </a:solidFill>
              </a:rPr>
              <a:t>- </a:t>
            </a:r>
            <a:r>
              <a:rPr lang="uk-UA" sz="2000" dirty="0">
                <a:solidFill>
                  <a:schemeClr val="tx1"/>
                </a:solidFill>
              </a:rPr>
              <a:t>попередження</a:t>
            </a:r>
            <a:r>
              <a:rPr lang="ru-RU" sz="2000" dirty="0">
                <a:solidFill>
                  <a:schemeClr val="tx1"/>
                </a:solidFill>
              </a:rPr>
              <a:t> п</a:t>
            </a:r>
            <a:r>
              <a:rPr lang="uk-UA" sz="2000" dirty="0">
                <a:solidFill>
                  <a:schemeClr val="tx1"/>
                </a:solidFill>
              </a:rPr>
              <a:t>ро можливість притягнення до академічної відповідальності; </a:t>
            </a:r>
            <a:endParaRPr lang="ru-RU" sz="2000" dirty="0">
              <a:solidFill>
                <a:schemeClr val="tx1"/>
              </a:solidFill>
            </a:endParaRPr>
          </a:p>
          <a:p>
            <a:pPr algn="just"/>
            <a:r>
              <a:rPr lang="ru-RU" sz="2000" dirty="0">
                <a:solidFill>
                  <a:schemeClr val="tx1"/>
                </a:solidFill>
              </a:rPr>
              <a:t>- </a:t>
            </a:r>
            <a:r>
              <a:rPr lang="uk-UA" sz="2000" dirty="0">
                <a:solidFill>
                  <a:schemeClr val="tx1"/>
                </a:solidFill>
              </a:rPr>
              <a:t>направлення на додаткове навчання з питань академічної доброчесності; </a:t>
            </a:r>
            <a:endParaRPr lang="ru-RU" sz="2000" dirty="0">
              <a:solidFill>
                <a:schemeClr val="tx1"/>
              </a:solidFill>
            </a:endParaRPr>
          </a:p>
          <a:p>
            <a:pPr algn="just"/>
            <a:r>
              <a:rPr lang="ru-RU" sz="2000" dirty="0">
                <a:solidFill>
                  <a:schemeClr val="tx1"/>
                </a:solidFill>
              </a:rPr>
              <a:t>-  </a:t>
            </a:r>
            <a:r>
              <a:rPr lang="ru-RU" sz="2000" dirty="0" smtClean="0">
                <a:solidFill>
                  <a:schemeClr val="tx1"/>
                </a:solidFill>
              </a:rPr>
              <a:t>  </a:t>
            </a:r>
            <a:r>
              <a:rPr lang="uk-UA" sz="2000" dirty="0" smtClean="0">
                <a:solidFill>
                  <a:schemeClr val="tx1"/>
                </a:solidFill>
              </a:rPr>
              <a:t>повторне </a:t>
            </a:r>
            <a:r>
              <a:rPr lang="uk-UA" sz="2000" dirty="0">
                <a:solidFill>
                  <a:schemeClr val="tx1"/>
                </a:solidFill>
              </a:rPr>
              <a:t>проходження оцінювання (іспит, </a:t>
            </a:r>
            <a:r>
              <a:rPr lang="uk-UA" sz="2000" dirty="0" smtClean="0">
                <a:solidFill>
                  <a:schemeClr val="tx1"/>
                </a:solidFill>
              </a:rPr>
              <a:t>залік); </a:t>
            </a:r>
            <a:endParaRPr lang="uk-UA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 smtClean="0">
                <a:solidFill>
                  <a:schemeClr val="tx1"/>
                </a:solidFill>
              </a:rPr>
              <a:t>- повторне </a:t>
            </a:r>
            <a:r>
              <a:rPr lang="uk-UA" sz="2000" dirty="0">
                <a:solidFill>
                  <a:schemeClr val="tx1"/>
                </a:solidFill>
              </a:rPr>
              <a:t>проходження відповідного освітнього компонента ОП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endParaRPr lang="ru-RU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-  нарахування штрафних балів у індивідуальному рейтингу;</a:t>
            </a:r>
            <a:endParaRPr lang="ru-RU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-  позбавлення почесних звань, нагород, кваліфікаційної категорії; </a:t>
            </a:r>
            <a:endParaRPr lang="ru-RU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-  позбавлення наданих Університетом пільг з оплати навчання;</a:t>
            </a:r>
            <a:endParaRPr lang="ru-RU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 - позбавлення права брати участь у конкурсах на отримання фінансування наукових досліджень, стипендій, грантів тощо; </a:t>
            </a:r>
            <a:endParaRPr lang="ru-RU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-   відрахування чи звільнення. 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6" name="Picture 11" descr="C:\Users\pc1\Desktop\78676191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1988840"/>
            <a:ext cx="1869247" cy="311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3581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93687"/>
            <a:ext cx="9144000" cy="931057"/>
          </a:xfrm>
        </p:spPr>
        <p:txBody>
          <a:bodyPr lIns="36000" tIns="36000" rIns="36000" bIns="36000">
            <a:normAutofit fontScale="90000"/>
          </a:bodyPr>
          <a:lstStyle/>
          <a:p>
            <a:pPr algn="ctr"/>
            <a:r>
              <a:rPr lang="uk-UA" dirty="0"/>
              <a:t> </a:t>
            </a:r>
            <a:r>
              <a:rPr lang="uk-UA" b="1" dirty="0">
                <a:effectLst/>
              </a:rPr>
              <a:t>ПОЛОЖЕННЯ</a:t>
            </a:r>
            <a:r>
              <a:rPr lang="ru-RU" b="1" dirty="0">
                <a:effectLst/>
              </a:rPr>
              <a:t> </a:t>
            </a:r>
            <a:r>
              <a:rPr lang="uk-UA" b="1" dirty="0">
                <a:effectLst/>
              </a:rPr>
              <a:t>про академічну доброчесність</a:t>
            </a:r>
            <a:r>
              <a:rPr lang="ru-RU" b="1" dirty="0">
                <a:effectLst/>
              </a:rPr>
              <a:t/>
            </a:r>
            <a:br>
              <a:rPr lang="ru-RU" b="1" dirty="0">
                <a:effectLst/>
              </a:rPr>
            </a:br>
            <a:r>
              <a:rPr lang="uk-UA" b="1" dirty="0">
                <a:effectLst/>
              </a:rPr>
              <a:t> ПВНЗ ХММУ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44" y="1142984"/>
            <a:ext cx="8686800" cy="3312368"/>
          </a:xfrm>
        </p:spPr>
        <p:txBody>
          <a:bodyPr lIns="36000" tIns="36000" rIns="36000" bIns="36000">
            <a:noAutofit/>
          </a:bodyPr>
          <a:lstStyle/>
          <a:p>
            <a:pPr marL="457200" lvl="1" indent="0" algn="just">
              <a:buNone/>
            </a:pPr>
            <a:r>
              <a:rPr lang="uk-UA" sz="2000" b="1" dirty="0">
                <a:solidFill>
                  <a:schemeClr val="tx1"/>
                </a:solidFill>
              </a:rPr>
              <a:t>Положення розроблено відповідно до:</a:t>
            </a:r>
            <a:endParaRPr lang="ru-RU" sz="2000" b="1" dirty="0">
              <a:solidFill>
                <a:schemeClr val="tx1"/>
              </a:solidFill>
            </a:endParaRPr>
          </a:p>
          <a:p>
            <a:pPr lvl="0" algn="just"/>
            <a:r>
              <a:rPr lang="uk-UA" sz="2000" dirty="0">
                <a:solidFill>
                  <a:schemeClr val="tx1"/>
                </a:solidFill>
              </a:rPr>
              <a:t>закону України «Про освіту»; </a:t>
            </a:r>
            <a:endParaRPr lang="ru-RU" sz="2000" dirty="0">
              <a:solidFill>
                <a:schemeClr val="tx1"/>
              </a:solidFill>
            </a:endParaRPr>
          </a:p>
          <a:p>
            <a:pPr lvl="0" algn="just"/>
            <a:r>
              <a:rPr lang="uk-UA" sz="2000" dirty="0">
                <a:solidFill>
                  <a:schemeClr val="tx1"/>
                </a:solidFill>
              </a:rPr>
              <a:t>закону України «Про вищу освіту»;  </a:t>
            </a:r>
            <a:endParaRPr lang="ru-RU" sz="2000" dirty="0">
              <a:solidFill>
                <a:schemeClr val="tx1"/>
              </a:solidFill>
            </a:endParaRPr>
          </a:p>
          <a:p>
            <a:pPr lvl="0" algn="just"/>
            <a:r>
              <a:rPr lang="uk-UA" sz="2000" dirty="0">
                <a:solidFill>
                  <a:schemeClr val="tx1"/>
                </a:solidFill>
              </a:rPr>
              <a:t>закону України  «Про авторське право і суміжні права»;</a:t>
            </a:r>
            <a:endParaRPr lang="ru-RU" sz="2000" dirty="0">
              <a:solidFill>
                <a:schemeClr val="tx1"/>
              </a:solidFill>
            </a:endParaRPr>
          </a:p>
          <a:p>
            <a:pPr lvl="0" algn="just"/>
            <a:r>
              <a:rPr lang="uk-UA" sz="2000" dirty="0">
                <a:solidFill>
                  <a:schemeClr val="tx1"/>
                </a:solidFill>
              </a:rPr>
              <a:t>закону України  «Про запобігання корупції»;</a:t>
            </a:r>
          </a:p>
          <a:p>
            <a:pPr lvl="0" algn="just"/>
            <a:r>
              <a:rPr lang="uk-UA" sz="2000" dirty="0">
                <a:solidFill>
                  <a:schemeClr val="tx1"/>
                </a:solidFill>
              </a:rPr>
              <a:t>Кодексу академічної етики університетської спільноти</a:t>
            </a:r>
            <a:endParaRPr lang="ru-RU" sz="2000" dirty="0">
              <a:solidFill>
                <a:schemeClr val="tx1"/>
              </a:solidFill>
            </a:endParaRPr>
          </a:p>
          <a:p>
            <a:pPr lvl="0" algn="just"/>
            <a:r>
              <a:rPr lang="uk-UA" sz="2000" dirty="0">
                <a:solidFill>
                  <a:schemeClr val="tx1"/>
                </a:solidFill>
              </a:rPr>
              <a:t>«Положення про комісію з питань академічної етики»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uk-UA" sz="2000" b="1" dirty="0">
                <a:solidFill>
                  <a:schemeClr val="tx1"/>
                </a:solidFill>
              </a:rPr>
              <a:t>      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251520" y="3861048"/>
            <a:ext cx="7429552" cy="2996952"/>
          </a:xfrm>
          <a:prstGeom prst="rect">
            <a:avLst/>
          </a:prstGeom>
        </p:spPr>
        <p:txBody>
          <a:bodyPr vert="horz" lIns="36000" tIns="36000" rIns="36000" bIns="36000" numCol="2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"/>
              <a:defRPr kumimoji="0"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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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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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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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"/>
              <a:defRPr kumimoji="0"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uk-UA" sz="2000" b="1" dirty="0">
                <a:solidFill>
                  <a:schemeClr val="tx1"/>
                </a:solidFill>
              </a:rPr>
              <a:t>Перевірці на </a:t>
            </a:r>
            <a:r>
              <a:rPr lang="uk-UA" sz="2000" b="1" dirty="0" smtClean="0">
                <a:solidFill>
                  <a:schemeClr val="tx1"/>
                </a:solidFill>
              </a:rPr>
              <a:t>академічний</a:t>
            </a:r>
          </a:p>
          <a:p>
            <a:pPr algn="just"/>
            <a:r>
              <a:rPr lang="uk-UA" sz="2000" b="1" dirty="0" smtClean="0">
                <a:solidFill>
                  <a:schemeClr val="tx1"/>
                </a:solidFill>
              </a:rPr>
              <a:t>плагіат </a:t>
            </a:r>
            <a:r>
              <a:rPr lang="uk-UA" sz="2000" b="1" dirty="0">
                <a:solidFill>
                  <a:schemeClr val="tx1"/>
                </a:solidFill>
              </a:rPr>
              <a:t>підлягають: </a:t>
            </a:r>
            <a:endParaRPr lang="ru-RU" sz="2000" b="1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навчальні </a:t>
            </a:r>
            <a:r>
              <a:rPr lang="uk-UA" sz="2000" dirty="0" smtClean="0">
                <a:solidFill>
                  <a:schemeClr val="tx1"/>
                </a:solidFill>
              </a:rPr>
              <a:t>посібники</a:t>
            </a: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м</a:t>
            </a:r>
            <a:r>
              <a:rPr lang="uk-UA" sz="2000" dirty="0" smtClean="0">
                <a:solidFill>
                  <a:schemeClr val="tx1"/>
                </a:solidFill>
              </a:rPr>
              <a:t>етодичні рекомендації</a:t>
            </a:r>
            <a:r>
              <a:rPr lang="uk-UA" sz="2000" dirty="0" smtClean="0">
                <a:solidFill>
                  <a:schemeClr val="tx1"/>
                </a:solidFill>
              </a:rPr>
              <a:t> </a:t>
            </a:r>
            <a:endParaRPr lang="uk-UA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підручники, монографії</a:t>
            </a: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рукописи публікацій</a:t>
            </a: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дисертаційні роботи</a:t>
            </a:r>
          </a:p>
          <a:p>
            <a:pPr algn="just"/>
            <a:endParaRPr lang="uk-UA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uk-UA" sz="2000" dirty="0">
                <a:solidFill>
                  <a:schemeClr val="tx1"/>
                </a:solidFill>
              </a:rPr>
              <a:t> </a:t>
            </a:r>
            <a:endParaRPr lang="uk-UA" sz="2000" dirty="0" smtClean="0">
              <a:solidFill>
                <a:schemeClr val="tx1"/>
              </a:solidFill>
            </a:endParaRPr>
          </a:p>
          <a:p>
            <a:pPr algn="just"/>
            <a:r>
              <a:rPr lang="uk-UA" sz="2000" dirty="0" smtClean="0">
                <a:solidFill>
                  <a:schemeClr val="tx1"/>
                </a:solidFill>
              </a:rPr>
              <a:t>збірники </a:t>
            </a:r>
            <a:r>
              <a:rPr lang="uk-UA" sz="2000" dirty="0">
                <a:solidFill>
                  <a:schemeClr val="tx1"/>
                </a:solidFill>
              </a:rPr>
              <a:t>наукових </a:t>
            </a:r>
            <a:r>
              <a:rPr lang="uk-UA" sz="2000" dirty="0" smtClean="0">
                <a:solidFill>
                  <a:schemeClr val="tx1"/>
                </a:solidFill>
              </a:rPr>
              <a:t>праць</a:t>
            </a:r>
            <a:endParaRPr lang="uk-UA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письмові роботи здобувачів під час поточного, підсумкового контролю чи </a:t>
            </a:r>
            <a:r>
              <a:rPr lang="uk-UA" sz="2000" dirty="0" smtClean="0">
                <a:solidFill>
                  <a:schemeClr val="tx1"/>
                </a:solidFill>
              </a:rPr>
              <a:t>атестації</a:t>
            </a:r>
            <a:endParaRPr lang="uk-UA" sz="2000" dirty="0">
              <a:solidFill>
                <a:schemeClr val="tx1"/>
              </a:solidFill>
            </a:endParaRPr>
          </a:p>
          <a:p>
            <a:pPr algn="just"/>
            <a:r>
              <a:rPr lang="uk-UA" sz="2000" dirty="0">
                <a:solidFill>
                  <a:schemeClr val="tx1"/>
                </a:solidFill>
              </a:rPr>
              <a:t>публікації здобувачів</a:t>
            </a:r>
          </a:p>
        </p:txBody>
      </p:sp>
      <p:pic>
        <p:nvPicPr>
          <p:cNvPr id="4" name="Picture 2" descr="человечек для презентации показывает: 2 тыс изображений найдено в Яндекс  Картинках">
            <a:extLst>
              <a:ext uri="{FF2B5EF4-FFF2-40B4-BE49-F238E27FC236}">
                <a16:creationId xmlns:a16="http://schemas.microsoft.com/office/drawing/2014/main" id="{784BCB53-1783-F8FB-5260-205B11F2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32" y="2636912"/>
            <a:ext cx="2145847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7962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428517"/>
            <a:ext cx="8686800" cy="4538078"/>
          </a:xfrm>
        </p:spPr>
        <p:txBody>
          <a:bodyPr lIns="36000" tIns="36000" rIns="36000" bIns="36000">
            <a:noAutofit/>
          </a:bodyPr>
          <a:lstStyle/>
          <a:p>
            <a:pPr marL="0" indent="0" algn="just">
              <a:buNone/>
            </a:pPr>
            <a:r>
              <a:rPr lang="uk-UA" sz="1900" dirty="0">
                <a:solidFill>
                  <a:schemeClr val="tx1"/>
                </a:solidFill>
              </a:rPr>
              <a:t>        З метою виконання норм Кодексу академічної етики та  Положення про академічну доброчесність в  ПВНЗ ХММУ створено </a:t>
            </a:r>
            <a:r>
              <a:rPr lang="uk-UA" sz="1900" b="1" dirty="0">
                <a:solidFill>
                  <a:schemeClr val="tx1"/>
                </a:solidFill>
              </a:rPr>
              <a:t>Комісію </a:t>
            </a:r>
            <a:r>
              <a:rPr lang="uk-UA" sz="1900" dirty="0">
                <a:solidFill>
                  <a:schemeClr val="tx1"/>
                </a:solidFill>
              </a:rPr>
              <a:t>з питань академічної етики, яка є  незалежним органом, що діє для забезпечення моніторингу дотримання членами університетської спільноти морально-етичних та правових норм. </a:t>
            </a:r>
          </a:p>
          <a:p>
            <a:pPr marL="0" indent="0" algn="just">
              <a:buNone/>
            </a:pPr>
            <a:r>
              <a:rPr lang="uk-UA" sz="1900" b="1" dirty="0">
                <a:solidFill>
                  <a:schemeClr val="tx1"/>
                </a:solidFill>
              </a:rPr>
              <a:t>Повноваження комісії:</a:t>
            </a:r>
          </a:p>
          <a:p>
            <a:pPr algn="just"/>
            <a:r>
              <a:rPr lang="uk-UA" sz="1900" dirty="0">
                <a:solidFill>
                  <a:schemeClr val="tx1"/>
                </a:solidFill>
              </a:rPr>
              <a:t>одержувати, розглядати, здійснювати аналіз заяв щодо порушення норм академічної етики та академічної доброчесності;</a:t>
            </a:r>
          </a:p>
          <a:p>
            <a:pPr algn="just"/>
            <a:r>
              <a:rPr lang="uk-UA" sz="1900" dirty="0">
                <a:solidFill>
                  <a:schemeClr val="tx1"/>
                </a:solidFill>
              </a:rPr>
              <a:t>залучати до своєї роботи керівників структурних підрозділів Університету;</a:t>
            </a:r>
          </a:p>
          <a:p>
            <a:pPr algn="just"/>
            <a:r>
              <a:rPr lang="uk-UA" sz="1900" dirty="0">
                <a:solidFill>
                  <a:schemeClr val="tx1"/>
                </a:solidFill>
              </a:rPr>
              <a:t>проводити інформаційну роботу щодо популяризації принципів академічної етики та  доброчесності;</a:t>
            </a:r>
          </a:p>
          <a:p>
            <a:pPr algn="just"/>
            <a:r>
              <a:rPr lang="uk-UA" sz="1900" dirty="0">
                <a:solidFill>
                  <a:schemeClr val="tx1"/>
                </a:solidFill>
              </a:rPr>
              <a:t>ініціювати, проводити та підтримувати дослідження з академічної доброчесності, якості освіти та наукової діяльності; </a:t>
            </a:r>
            <a:endParaRPr lang="ru-RU" sz="1900" dirty="0">
              <a:solidFill>
                <a:schemeClr val="tx1"/>
              </a:solidFill>
            </a:endParaRPr>
          </a:p>
        </p:txBody>
      </p:sp>
      <p:pic>
        <p:nvPicPr>
          <p:cNvPr id="6146" name="Picture 2" descr="C:\Users\pc1\Desktop\images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1" r="20818" b="15561"/>
          <a:stretch/>
        </p:blipFill>
        <p:spPr bwMode="auto">
          <a:xfrm>
            <a:off x="7805401" y="4966595"/>
            <a:ext cx="1343891" cy="18981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pc1\Desktop\images (1)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8" t="6819" r="8213" b="19050"/>
          <a:stretch/>
        </p:blipFill>
        <p:spPr bwMode="auto">
          <a:xfrm>
            <a:off x="4945422" y="5056324"/>
            <a:ext cx="1191492" cy="1828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Соединительная линия уступом 6"/>
          <p:cNvCxnSpPr/>
          <p:nvPr/>
        </p:nvCxnSpPr>
        <p:spPr>
          <a:xfrm>
            <a:off x="5965707" y="5682692"/>
            <a:ext cx="1990265" cy="576064"/>
          </a:xfrm>
          <a:prstGeom prst="bentConnector3">
            <a:avLst>
              <a:gd name="adj1" fmla="val 50000"/>
            </a:avLst>
          </a:prstGeom>
          <a:ln w="317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8-конечная звезда 12"/>
          <p:cNvSpPr/>
          <p:nvPr/>
        </p:nvSpPr>
        <p:spPr>
          <a:xfrm>
            <a:off x="6209108" y="5316413"/>
            <a:ext cx="457200" cy="360218"/>
          </a:xfrm>
          <a:prstGeom prst="star8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8-конечная звезда 15"/>
          <p:cNvSpPr/>
          <p:nvPr/>
        </p:nvSpPr>
        <p:spPr>
          <a:xfrm>
            <a:off x="7189440" y="5898538"/>
            <a:ext cx="457200" cy="360218"/>
          </a:xfrm>
          <a:prstGeom prst="star8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311831" y="4966595"/>
            <a:ext cx="4476194" cy="1746616"/>
          </a:xfrm>
          <a:prstGeom prst="rect">
            <a:avLst/>
          </a:prstGeom>
        </p:spPr>
        <p:txBody>
          <a:bodyPr vert="horz" lIns="36000" tIns="36000" rIns="36000" bIns="3600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"/>
              <a:defRPr kumimoji="0"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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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Char char="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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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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"/>
              <a:defRPr kumimoji="0"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uk-UA" sz="1800" dirty="0">
                <a:solidFill>
                  <a:schemeClr val="tx1"/>
                </a:solidFill>
              </a:rPr>
              <a:t>розглядати апеляційні скарги щодо перевірки на академічний плагіат</a:t>
            </a:r>
          </a:p>
        </p:txBody>
      </p:sp>
    </p:spTree>
    <p:extLst>
      <p:ext uri="{BB962C8B-B14F-4D97-AF65-F5344CB8AC3E}">
        <p14:creationId xmlns:p14="http://schemas.microsoft.com/office/powerpoint/2010/main" val="11870979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B11B9-1FC8-3C3A-8AE0-81737197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uk-UA" sz="2400" dirty="0">
                <a:effectLst/>
                <a:latin typeface="Franklin Gothic Medium" panose="020B0603020102020204" pitchFamily="34" charset="0"/>
                <a:ea typeface="Times New Roman" panose="02020603050405020304" pitchFamily="18" charset="0"/>
              </a:rPr>
              <a:t>Академічна доброчесність – невід’ємна частина університетської культури якості</a:t>
            </a:r>
            <a:r>
              <a:rPr lang="ru-UA" sz="2400" dirty="0">
                <a:effectLst/>
                <a:latin typeface="Franklin Gothic Medium" panose="020B0603020102020204" pitchFamily="34" charset="0"/>
                <a:ea typeface="Times New Roman" panose="02020603050405020304" pitchFamily="18" charset="0"/>
              </a:rPr>
              <a:t/>
            </a:r>
            <a:br>
              <a:rPr lang="ru-UA" sz="2400" dirty="0">
                <a:effectLst/>
                <a:latin typeface="Franklin Gothic Medium" panose="020B0603020102020204" pitchFamily="34" charset="0"/>
                <a:ea typeface="Times New Roman" panose="02020603050405020304" pitchFamily="18" charset="0"/>
              </a:rPr>
            </a:br>
            <a:endParaRPr lang="ru-UA" sz="2400" dirty="0">
              <a:latin typeface="Franklin Gothic Medium" panose="020B0603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5175B-5350-5246-3BC5-0C78B84D4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54162"/>
            <a:ext cx="8686800" cy="518720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uk-UA" sz="20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Університеті прийнято Політику щодо культури якості освіти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uk-UA" sz="20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Співробітники заповнюють Декларації </a:t>
            </a:r>
            <a:r>
              <a:rPr lang="uk-UA" sz="20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членів  університетської спільноти щодо академічної етики</a:t>
            </a:r>
          </a:p>
          <a:p>
            <a:r>
              <a:rPr lang="uk-UA" sz="20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Проводиться провадження політики академічної доброчесності при проведенні лекцій «Вступ за фахом» для здобувачів вищої освіти початкових курсів</a:t>
            </a:r>
          </a:p>
          <a:p>
            <a:r>
              <a:rPr lang="uk-UA" sz="20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Проводиться опитування  серед здобувачів вищої освіти та науково-педагогічних працівників щодо дотримування вимог академічної доброчесності</a:t>
            </a:r>
          </a:p>
          <a:p>
            <a:r>
              <a:rPr lang="uk-UA" sz="2000" dirty="0">
                <a:solidFill>
                  <a:schemeClr val="tx1"/>
                </a:solidFill>
              </a:rPr>
              <a:t>Популяризація принципів академічної доброчесності та підвищення рівня обізнаності всіх учасників освітньої діяльності в університеті передбачає проведення </a:t>
            </a:r>
            <a:r>
              <a:rPr lang="uk-UA" sz="2000" dirty="0" smtClean="0">
                <a:solidFill>
                  <a:schemeClr val="tx1"/>
                </a:solidFill>
              </a:rPr>
              <a:t>тижня  або марафону академічної </a:t>
            </a:r>
            <a:r>
              <a:rPr lang="uk-UA" sz="2000" dirty="0">
                <a:solidFill>
                  <a:schemeClr val="tx1"/>
                </a:solidFill>
              </a:rPr>
              <a:t>доброчесності</a:t>
            </a:r>
            <a:endParaRPr lang="uk-UA" sz="3600" dirty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uk-UA" sz="2000" dirty="0">
              <a:effectLst/>
              <a:latin typeface="Franklin Gothic Medium" panose="020B06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sz="2000" dirty="0">
              <a:effectLst/>
              <a:latin typeface="Franklin Gothic Medium" panose="020B06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sz="2000" dirty="0">
              <a:effectLst/>
              <a:latin typeface="Franklin Gothic Medium" panose="020B06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sz="2000" dirty="0">
              <a:effectLst/>
              <a:latin typeface="Franklin Gothic Medium" panose="020B06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uk-UA" sz="2000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906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3B532B-B9D3-A314-67C7-A6AD142E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57200"/>
            <a:ext cx="8812088" cy="838200"/>
          </a:xfrm>
        </p:spPr>
        <p:txBody>
          <a:bodyPr>
            <a:noAutofit/>
          </a:bodyPr>
          <a:lstStyle/>
          <a:p>
            <a:pPr algn="just"/>
            <a:r>
              <a:rPr lang="uk-UA" sz="2200" dirty="0">
                <a:solidFill>
                  <a:schemeClr val="tx1"/>
                </a:solidFill>
              </a:rPr>
              <a:t>інструменти впровадження принципів академічної доброчесності у освітню і наукову діяльність університету</a:t>
            </a:r>
            <a:br>
              <a:rPr lang="uk-UA" sz="2200" dirty="0">
                <a:solidFill>
                  <a:schemeClr val="tx1"/>
                </a:solidFill>
              </a:rPr>
            </a:br>
            <a:endParaRPr lang="uk-UA" sz="2200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31FA1B-AD2D-3F1C-0BF1-727D8A9C0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156" y="1677194"/>
            <a:ext cx="8686800" cy="4525963"/>
          </a:xfrm>
        </p:spPr>
        <p:txBody>
          <a:bodyPr/>
          <a:lstStyle/>
          <a:p>
            <a:r>
              <a:rPr lang="uk-UA" sz="2000" dirty="0">
                <a:solidFill>
                  <a:schemeClr val="tx1"/>
                </a:solidFill>
              </a:rPr>
              <a:t>Для інформаційної грамотності всіх </a:t>
            </a:r>
            <a:r>
              <a:rPr lang="uk-UA" sz="2000" dirty="0" err="1">
                <a:solidFill>
                  <a:schemeClr val="tx1"/>
                </a:solidFill>
              </a:rPr>
              <a:t>стейкхолдерів</a:t>
            </a:r>
            <a:r>
              <a:rPr lang="uk-UA" sz="2000" dirty="0">
                <a:solidFill>
                  <a:schemeClr val="tx1"/>
                </a:solidFill>
              </a:rPr>
              <a:t> на сайті в розділі «Якість освіти. Академічна етика»  постійно додаються корисні посилання на онлайн-ресурси та методичні матеріали з академічної доброчесності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r>
              <a:rPr lang="uk-UA" sz="2000" dirty="0">
                <a:solidFill>
                  <a:schemeClr val="tx1"/>
                </a:solidFill>
              </a:rPr>
              <a:t>є відповідний розділ на сайті бібліотеки</a:t>
            </a:r>
          </a:p>
          <a:p>
            <a:r>
              <a:rPr lang="uk-UA" sz="2000" dirty="0">
                <a:solidFill>
                  <a:schemeClr val="tx1"/>
                </a:solidFill>
              </a:rPr>
              <a:t> Актуальні програми підвищення кваліфікації науково-педагогічних і педагогічних працівників, наприклад, за тематикою «Академічна доброчесність» на </a:t>
            </a:r>
            <a:r>
              <a:rPr lang="en-US" sz="2000" dirty="0" smtClean="0">
                <a:solidFill>
                  <a:schemeClr val="tx1"/>
                </a:solidFill>
              </a:rPr>
              <a:t>Prometheus</a:t>
            </a:r>
            <a:endParaRPr lang="uk-UA" sz="2000" dirty="0">
              <a:solidFill>
                <a:schemeClr val="tx1"/>
              </a:solidFill>
            </a:endParaRPr>
          </a:p>
          <a:p>
            <a:r>
              <a:rPr lang="uk-UA" sz="2000" dirty="0">
                <a:solidFill>
                  <a:schemeClr val="tx1"/>
                </a:solidFill>
              </a:rPr>
              <a:t>Участь всіх співробітників університету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Helvetica Neue"/>
              </a:rPr>
              <a:t> </a:t>
            </a:r>
            <a:r>
              <a:rPr lang="uk-UA" sz="2000" b="0" i="0" dirty="0">
                <a:solidFill>
                  <a:schemeClr val="tx1"/>
                </a:solidFill>
                <a:effectLst/>
              </a:rPr>
              <a:t>у заходах – форумах, </a:t>
            </a:r>
            <a:r>
              <a:rPr lang="uk-UA" sz="2000" b="0" i="0" dirty="0" err="1">
                <a:solidFill>
                  <a:schemeClr val="tx1"/>
                </a:solidFill>
                <a:effectLst/>
              </a:rPr>
              <a:t>вебінарах</a:t>
            </a:r>
            <a:r>
              <a:rPr lang="uk-UA" sz="2000" b="0" i="0" dirty="0">
                <a:solidFill>
                  <a:schemeClr val="tx1"/>
                </a:solidFill>
                <a:effectLst/>
              </a:rPr>
              <a:t> щодо академічної доброчесності, які організовані  іншими ЗВО, сервісами перевірки на </a:t>
            </a:r>
            <a:r>
              <a:rPr lang="uk-UA" sz="2000" b="0" i="0" dirty="0" smtClean="0">
                <a:solidFill>
                  <a:schemeClr val="tx1"/>
                </a:solidFill>
                <a:effectLst/>
              </a:rPr>
              <a:t>плагіат</a:t>
            </a:r>
            <a:endParaRPr lang="uk-UA" sz="2000" dirty="0">
              <a:solidFill>
                <a:schemeClr val="tx1"/>
              </a:solidFill>
            </a:endParaRPr>
          </a:p>
          <a:p>
            <a:r>
              <a:rPr lang="uk-UA" sz="2000" dirty="0">
                <a:solidFill>
                  <a:schemeClr val="tx1"/>
                </a:solidFill>
              </a:rPr>
              <a:t>Відкриті онлайн-курси, відео-ролики в інтернеті за тематикою академічної доброчесності та основ інформаційної грамотності</a:t>
            </a:r>
          </a:p>
          <a:p>
            <a:endParaRPr lang="uk-UA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9F4B2D-3D93-20A8-22A8-261893666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976937"/>
            <a:ext cx="1790700" cy="7239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7F2036-516E-352A-936F-FAD38D549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1172369"/>
            <a:ext cx="15049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" y="260648"/>
            <a:ext cx="8686800" cy="838200"/>
          </a:xfrm>
        </p:spPr>
        <p:txBody>
          <a:bodyPr>
            <a:noAutofit/>
          </a:bodyPr>
          <a:lstStyle/>
          <a:p>
            <a:pPr algn="ctr"/>
            <a:r>
              <a:rPr lang="ru-RU" sz="2800" dirty="0" smtClean="0"/>
              <a:t>Проект Закону </a:t>
            </a:r>
            <a:r>
              <a:rPr lang="ru-RU" sz="2800" dirty="0" err="1"/>
              <a:t>України</a:t>
            </a:r>
            <a:r>
              <a:rPr lang="ru-RU" sz="2800" dirty="0"/>
              <a:t> Про </a:t>
            </a:r>
            <a:r>
              <a:rPr lang="ru-RU" sz="2800" dirty="0" err="1"/>
              <a:t>академічну</a:t>
            </a:r>
            <a:r>
              <a:rPr lang="ru-RU" sz="2800" dirty="0"/>
              <a:t> </a:t>
            </a:r>
            <a:r>
              <a:rPr lang="ru-RU" sz="2800" dirty="0" err="1"/>
              <a:t>доброчесність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413091"/>
            <a:ext cx="6211416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1" dirty="0" err="1"/>
              <a:t>Чому</a:t>
            </a:r>
            <a:r>
              <a:rPr lang="ru-RU" sz="2400" b="1" dirty="0"/>
              <a:t> </a:t>
            </a:r>
            <a:r>
              <a:rPr lang="ru-RU" sz="2400" b="1" dirty="0" err="1"/>
              <a:t>законопроєкт</a:t>
            </a:r>
            <a:r>
              <a:rPr lang="ru-RU" sz="2400" b="1" dirty="0"/>
              <a:t> є </a:t>
            </a:r>
            <a:r>
              <a:rPr lang="ru-RU" sz="2400" b="1" dirty="0" err="1"/>
              <a:t>важливим</a:t>
            </a:r>
            <a:r>
              <a:rPr lang="ru-RU" sz="2400" b="1" dirty="0"/>
              <a:t> для </a:t>
            </a:r>
            <a:r>
              <a:rPr lang="ru-RU" sz="2400" b="1" dirty="0" err="1"/>
              <a:t>суспільства</a:t>
            </a:r>
            <a:r>
              <a:rPr lang="ru-RU" sz="2400" b="1" dirty="0" smtClean="0"/>
              <a:t>?</a:t>
            </a:r>
          </a:p>
          <a:p>
            <a:pPr marL="0" indent="0" algn="ctr">
              <a:buNone/>
            </a:pPr>
            <a:endParaRPr lang="ru-RU" sz="2400" b="1" dirty="0" smtClean="0"/>
          </a:p>
          <a:p>
            <a:pPr marL="0" indent="0" algn="just">
              <a:buNone/>
            </a:pPr>
            <a:r>
              <a:rPr lang="uk-UA" sz="2400" dirty="0" smtClean="0">
                <a:solidFill>
                  <a:schemeClr val="tx1"/>
                </a:solidFill>
              </a:rPr>
              <a:t>Проблема </a:t>
            </a:r>
            <a:r>
              <a:rPr lang="uk-UA" sz="2400" dirty="0" err="1" smtClean="0">
                <a:solidFill>
                  <a:schemeClr val="tx1"/>
                </a:solidFill>
              </a:rPr>
              <a:t>недоброчесності</a:t>
            </a:r>
            <a:r>
              <a:rPr lang="uk-UA" sz="2400" dirty="0" smtClean="0">
                <a:solidFill>
                  <a:schemeClr val="tx1"/>
                </a:solidFill>
              </a:rPr>
              <a:t>, зокрема плагіату в освітньому і науковому середовищі, існує давно. Ті, хто порушив принципи академічної доброчесності, часто не несуть відповідальність за крадіжку чужих ідей, адже досі немає механізму, який би остаточно врегулював це питання.</a:t>
            </a:r>
            <a:endParaRPr lang="uk-UA" sz="2400" b="1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368" y="2996952"/>
            <a:ext cx="2244614" cy="38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7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847" y="260648"/>
            <a:ext cx="8686800" cy="838200"/>
          </a:xfrm>
        </p:spPr>
        <p:txBody>
          <a:bodyPr>
            <a:noAutofit/>
          </a:bodyPr>
          <a:lstStyle/>
          <a:p>
            <a:pPr algn="ctr"/>
            <a:r>
              <a:rPr lang="uk-UA" sz="2800" dirty="0" smtClean="0"/>
              <a:t>Проект Закону України Про академічну доброчесність</a:t>
            </a:r>
            <a:endParaRPr lang="uk-UA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28800"/>
            <a:ext cx="8686800" cy="5112568"/>
          </a:xfrm>
        </p:spPr>
        <p:txBody>
          <a:bodyPr>
            <a:normAutofit lnSpcReduction="10000"/>
          </a:bodyPr>
          <a:lstStyle/>
          <a:p>
            <a:pPr algn="just"/>
            <a:r>
              <a:rPr lang="uk-UA" sz="2000" dirty="0" smtClean="0">
                <a:solidFill>
                  <a:schemeClr val="tx1"/>
                </a:solidFill>
              </a:rPr>
              <a:t>Закон визначає основні засади забезпечення академічної доброчесності у сферах освіти і науки</a:t>
            </a:r>
          </a:p>
          <a:p>
            <a:pPr algn="just"/>
            <a:endParaRPr lang="uk-UA" sz="2000" dirty="0" smtClean="0">
              <a:solidFill>
                <a:schemeClr val="tx1"/>
              </a:solidFill>
            </a:endParaRPr>
          </a:p>
          <a:p>
            <a:pPr algn="just"/>
            <a:r>
              <a:rPr lang="uk-UA" sz="2000" dirty="0" err="1" smtClean="0">
                <a:solidFill>
                  <a:schemeClr val="tx1"/>
                </a:solidFill>
              </a:rPr>
              <a:t>Проєкт</a:t>
            </a:r>
            <a:r>
              <a:rPr lang="uk-UA" sz="2000" dirty="0" smtClean="0">
                <a:solidFill>
                  <a:schemeClr val="tx1"/>
                </a:solidFill>
              </a:rPr>
              <a:t> закону поширюється на здобувачів усіх рівнів освіти, а також наукову, освітню, видавничу сфери, експертну діяльність і проведення конкурсів у сфері освіти та науки.</a:t>
            </a:r>
          </a:p>
          <a:p>
            <a:pPr algn="just"/>
            <a:endParaRPr lang="uk-UA" sz="2000" dirty="0" smtClean="0">
              <a:solidFill>
                <a:schemeClr val="tx1"/>
              </a:solidFill>
            </a:endParaRPr>
          </a:p>
          <a:p>
            <a:pPr algn="just"/>
            <a:r>
              <a:rPr lang="uk-UA" sz="2000" dirty="0" smtClean="0">
                <a:solidFill>
                  <a:schemeClr val="tx1"/>
                </a:solidFill>
              </a:rPr>
              <a:t>Законопроект містить ширший </a:t>
            </a:r>
            <a:r>
              <a:rPr lang="uk-UA" sz="2000" b="1" dirty="0" smtClean="0">
                <a:solidFill>
                  <a:schemeClr val="tx1"/>
                </a:solidFill>
              </a:rPr>
              <a:t>перелік правопорушень</a:t>
            </a:r>
            <a:r>
              <a:rPr lang="uk-UA" sz="2000" dirty="0" smtClean="0">
                <a:solidFill>
                  <a:schemeClr val="tx1"/>
                </a:solidFill>
              </a:rPr>
              <a:t> академічної доброчесності, порівняно із законом України  "Про освіту". </a:t>
            </a:r>
          </a:p>
          <a:p>
            <a:pPr algn="just"/>
            <a:endParaRPr lang="uk-UA" sz="2000" dirty="0" smtClean="0">
              <a:solidFill>
                <a:schemeClr val="tx1"/>
              </a:solidFill>
            </a:endParaRPr>
          </a:p>
          <a:p>
            <a:pPr algn="just"/>
            <a:r>
              <a:rPr lang="uk-UA" sz="2000" dirty="0" err="1" smtClean="0">
                <a:solidFill>
                  <a:schemeClr val="tx1"/>
                </a:solidFill>
              </a:rPr>
              <a:t>Законопроєкт</a:t>
            </a:r>
            <a:r>
              <a:rPr lang="uk-UA" sz="2000" dirty="0" smtClean="0">
                <a:solidFill>
                  <a:schemeClr val="tx1"/>
                </a:solidFill>
              </a:rPr>
              <a:t> також врегульовує питання використання </a:t>
            </a:r>
            <a:r>
              <a:rPr lang="uk-UA" sz="2000" b="1" dirty="0" smtClean="0">
                <a:solidFill>
                  <a:schemeClr val="tx1"/>
                </a:solidFill>
              </a:rPr>
              <a:t>штучного інтелекту</a:t>
            </a:r>
            <a:r>
              <a:rPr lang="uk-UA" sz="2000" dirty="0" smtClean="0">
                <a:solidFill>
                  <a:schemeClr val="tx1"/>
                </a:solidFill>
              </a:rPr>
              <a:t> в наукових роботах.</a:t>
            </a:r>
          </a:p>
          <a:p>
            <a:pPr algn="just"/>
            <a:endParaRPr lang="uk-UA" sz="2000" dirty="0" smtClean="0">
              <a:solidFill>
                <a:schemeClr val="tx1"/>
              </a:solidFill>
            </a:endParaRPr>
          </a:p>
          <a:p>
            <a:pPr algn="just"/>
            <a:r>
              <a:rPr lang="uk-UA" sz="2000" dirty="0" smtClean="0">
                <a:solidFill>
                  <a:schemeClr val="tx1"/>
                </a:solidFill>
              </a:rPr>
              <a:t>В законі визначено, що мінімальний вік, з якого можна притягати до академічної відповідальності – з 14 років</a:t>
            </a:r>
            <a:endParaRPr lang="uk-UA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83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E6DECB-48B1-D969-991A-C6B2D318874A}"/>
              </a:ext>
            </a:extLst>
          </p:cNvPr>
          <p:cNvSpPr txBox="1"/>
          <p:nvPr/>
        </p:nvSpPr>
        <p:spPr>
          <a:xfrm>
            <a:off x="827584" y="836712"/>
            <a:ext cx="7704856" cy="306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uk-UA" sz="3200" i="1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Я сподіваюсь, що  завжди буду мати достатньо твердості і доброчесності, щоб відстояти те, що я вважаю найбажанішим зі всіх звань -  репутацію чесної людини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uk-UA" i="1" kern="100" dirty="0">
              <a:solidFill>
                <a:srgbClr val="30303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uk-UA" sz="2400" i="1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2400" b="1" i="1" kern="100" dirty="0" err="1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Дж</a:t>
            </a:r>
            <a:r>
              <a:rPr lang="uk-UA" sz="2400" b="1" i="1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Вашингтон</a:t>
            </a:r>
            <a:r>
              <a:rPr lang="uk-UA" sz="2400" i="1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</a:t>
            </a:r>
            <a:endParaRPr lang="ru-UA" sz="2400" b="1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85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C:\Users\pc1\Desktop\80_bow_and_blow_ki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547" y="2348880"/>
            <a:ext cx="3312368" cy="414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141353" y="1268760"/>
            <a:ext cx="48510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cap="none" spc="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Дякую за увагу!</a:t>
            </a:r>
            <a:endParaRPr lang="ru-RU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91685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1966</TotalTime>
  <Words>1425</Words>
  <Application>Microsoft Office PowerPoint</Application>
  <PresentationFormat>Экран (4:3)</PresentationFormat>
  <Paragraphs>162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-apple-system</vt:lpstr>
      <vt:lpstr>Bahnschrift Condensed</vt:lpstr>
      <vt:lpstr>Calibri</vt:lpstr>
      <vt:lpstr>Franklin Gothic Book</vt:lpstr>
      <vt:lpstr>Franklin Gothic Medium</vt:lpstr>
      <vt:lpstr>Helvetica Neue</vt:lpstr>
      <vt:lpstr>Noto Sans</vt:lpstr>
      <vt:lpstr>Times New Roman</vt:lpstr>
      <vt:lpstr>Wingdings 2</vt:lpstr>
      <vt:lpstr>Трек</vt:lpstr>
      <vt:lpstr>Керівник відділу внутрішнього забезпечення якості вищої освіти та навчально-методичної діяльності                   Марина Гиря</vt:lpstr>
      <vt:lpstr>Історія Академічної                         доброчесності</vt:lpstr>
      <vt:lpstr>Міжнародні стандарти та европейська практика у сфері формування простору академічної доброчесності</vt:lpstr>
      <vt:lpstr>Презентация PowerPoint</vt:lpstr>
      <vt:lpstr>Академічна доброчесність</vt:lpstr>
      <vt:lpstr>Порушенням академічної доброчесності вважається:</vt:lpstr>
      <vt:lpstr>Порушенням академічної доброчесності вважається:</vt:lpstr>
      <vt:lpstr>Порушенням академічної доброчесності вважається:</vt:lpstr>
      <vt:lpstr>Порушенням академічної доброчесності вважається:</vt:lpstr>
      <vt:lpstr>Дотримання академічної доброчесності педагогічними, науково-педагогічними та науковими працівниками передбачає:</vt:lpstr>
      <vt:lpstr>Дотримання академічної доброчесності здобувачами освіти передбачає:</vt:lpstr>
      <vt:lpstr>Серед санкцій за порушення  академічної доброчесності   наступні:</vt:lpstr>
      <vt:lpstr> ПОЛОЖЕННЯ про академічну доброчесність  ПВНЗ ХММУ</vt:lpstr>
      <vt:lpstr>Презентация PowerPoint</vt:lpstr>
      <vt:lpstr>Академічна доброчесність – невід’ємна частина університетської культури якості </vt:lpstr>
      <vt:lpstr>інструменти впровадження принципів академічної доброчесності у освітню і наукову діяльність університету </vt:lpstr>
      <vt:lpstr>Проект Закону України Про академічну доброчесність</vt:lpstr>
      <vt:lpstr>Проект Закону України Про академічну доброчесність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Академічна доброчесність</dc:title>
  <dc:creator>pc1</dc:creator>
  <cp:lastModifiedBy>Lenovo</cp:lastModifiedBy>
  <cp:revision>104</cp:revision>
  <dcterms:created xsi:type="dcterms:W3CDTF">2017-12-14T07:13:56Z</dcterms:created>
  <dcterms:modified xsi:type="dcterms:W3CDTF">2025-03-21T05:16:58Z</dcterms:modified>
</cp:coreProperties>
</file>
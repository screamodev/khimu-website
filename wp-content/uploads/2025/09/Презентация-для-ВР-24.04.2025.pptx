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7"/>
  </p:notesMasterIdLst>
  <p:sldIdLst>
    <p:sldId id="256" r:id="rId2"/>
    <p:sldId id="271" r:id="rId3"/>
    <p:sldId id="327" r:id="rId4"/>
    <p:sldId id="34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298" r:id="rId14"/>
    <p:sldId id="345" r:id="rId15"/>
    <p:sldId id="331" r:id="rId16"/>
    <p:sldId id="309" r:id="rId17"/>
    <p:sldId id="347" r:id="rId18"/>
    <p:sldId id="348" r:id="rId19"/>
    <p:sldId id="314" r:id="rId20"/>
    <p:sldId id="316" r:id="rId21"/>
    <p:sldId id="349" r:id="rId22"/>
    <p:sldId id="350" r:id="rId23"/>
    <p:sldId id="351" r:id="rId24"/>
    <p:sldId id="317" r:id="rId25"/>
    <p:sldId id="33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04" autoAdjust="0"/>
    <p:restoredTop sz="99822" autoAdjust="0"/>
  </p:normalViewPr>
  <p:slideViewPr>
    <p:cSldViewPr snapToGrid="0">
      <p:cViewPr varScale="1">
        <p:scale>
          <a:sx n="88" d="100"/>
          <a:sy n="88" d="100"/>
        </p:scale>
        <p:origin x="73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EDBFA-1112-484C-99ED-864DDF5E48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CCD20B4-A077-4A48-95FD-A5F7BCA1CF86}">
      <dgm:prSet custT="1"/>
      <dgm:spPr/>
      <dgm:t>
        <a:bodyPr/>
        <a:lstStyle/>
        <a:p>
          <a:r>
            <a:rPr lang="uk-UA" sz="4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Анкетування</a:t>
          </a:r>
          <a:r>
            <a:rPr lang="uk-UA" sz="4000" b="1" i="0" dirty="0"/>
            <a:t> – </a:t>
          </a:r>
          <a:endParaRPr lang="uk-UA" sz="4000" dirty="0"/>
        </a:p>
      </dgm:t>
    </dgm:pt>
    <dgm:pt modelId="{3EA2FF41-5D46-49F6-951B-5478540296D5}" type="parTrans" cxnId="{4AE8B83D-5C3C-45BF-93BD-22F67C4D0E12}">
      <dgm:prSet/>
      <dgm:spPr/>
      <dgm:t>
        <a:bodyPr/>
        <a:lstStyle/>
        <a:p>
          <a:endParaRPr lang="uk-UA"/>
        </a:p>
      </dgm:t>
    </dgm:pt>
    <dgm:pt modelId="{7C619EC2-FB8D-4920-B863-1BC7C004E140}" type="sibTrans" cxnId="{4AE8B83D-5C3C-45BF-93BD-22F67C4D0E12}">
      <dgm:prSet/>
      <dgm:spPr/>
      <dgm:t>
        <a:bodyPr/>
        <a:lstStyle/>
        <a:p>
          <a:endParaRPr lang="uk-UA"/>
        </a:p>
      </dgm:t>
    </dgm:pt>
    <dgm:pt modelId="{A1C25CA9-A90B-4EE6-9262-69BB4B749CE6}" type="pres">
      <dgm:prSet presAssocID="{9D1EDBFA-1112-484C-99ED-864DDF5E48F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A2AABA1-2D77-423C-B420-625520F7BF89}" type="pres">
      <dgm:prSet presAssocID="{DCCD20B4-A077-4A48-95FD-A5F7BCA1CF86}" presName="parentText" presStyleLbl="node1" presStyleIdx="0" presStyleCnt="1" custLinFactNeighborX="86141" custLinFactNeighborY="-152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E1FC478-F317-47BC-8FF0-909BFA9D0341}" type="presOf" srcId="{DCCD20B4-A077-4A48-95FD-A5F7BCA1CF86}" destId="{FA2AABA1-2D77-423C-B420-625520F7BF89}" srcOrd="0" destOrd="0" presId="urn:microsoft.com/office/officeart/2005/8/layout/vList2"/>
    <dgm:cxn modelId="{315DAFD2-3536-413E-9936-3162AFA8651C}" type="presOf" srcId="{9D1EDBFA-1112-484C-99ED-864DDF5E48F6}" destId="{A1C25CA9-A90B-4EE6-9262-69BB4B749CE6}" srcOrd="0" destOrd="0" presId="urn:microsoft.com/office/officeart/2005/8/layout/vList2"/>
    <dgm:cxn modelId="{4AE8B83D-5C3C-45BF-93BD-22F67C4D0E12}" srcId="{9D1EDBFA-1112-484C-99ED-864DDF5E48F6}" destId="{DCCD20B4-A077-4A48-95FD-A5F7BCA1CF86}" srcOrd="0" destOrd="0" parTransId="{3EA2FF41-5D46-49F6-951B-5478540296D5}" sibTransId="{7C619EC2-FB8D-4920-B863-1BC7C004E140}"/>
    <dgm:cxn modelId="{807DF9E7-B732-493F-B299-7CFF0F8FA0CC}" type="presParOf" srcId="{A1C25CA9-A90B-4EE6-9262-69BB4B749CE6}" destId="{FA2AABA1-2D77-423C-B420-625520F7BF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/>
      <dgm:spPr/>
      <dgm:t>
        <a:bodyPr/>
        <a:lstStyle/>
        <a:p>
          <a:pPr algn="ctr"/>
          <a:r>
            <a:rPr lang="uk-UA" b="1" i="1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для опитування здобувачів вищої освіти щодо якості освітнього процесу та освітньої діяльності</a:t>
          </a:r>
          <a:endParaRPr lang="uk-UA" i="1" noProof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82001" custLinFactNeighborX="12804" custLinFactNeighborY="-321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/>
      <dgm:spPr/>
      <dgm:t>
        <a:bodyPr/>
        <a:lstStyle/>
        <a:p>
          <a:pPr algn="ctr"/>
          <a:r>
            <a:rPr lang="uk-UA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діяльності </a:t>
          </a:r>
          <a:r>
            <a:rPr lang="uk-U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b="1" i="0" dirty="0"/>
            <a:t/>
          </a:r>
          <a:br>
            <a:rPr lang="uk-UA" b="1" i="0" dirty="0"/>
          </a:br>
          <a:endParaRPr lang="uk-UA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/>
      <dgm:spPr/>
      <dgm:t>
        <a:bodyPr/>
        <a:lstStyle/>
        <a:p>
          <a:pPr algn="ctr"/>
          <a:r>
            <a:rPr lang="uk-UA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діяльності </a:t>
          </a:r>
          <a:r>
            <a:rPr lang="uk-UA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b="1" i="0" dirty="0"/>
            <a:t/>
          </a:r>
          <a:br>
            <a:rPr lang="uk-UA" b="1" i="0" dirty="0"/>
          </a:br>
          <a:endParaRPr lang="uk-UA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3631" custLinFactNeighborY="-1206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 custT="1"/>
      <dgm:spPr/>
      <dgm:t>
        <a:bodyPr/>
        <a:lstStyle/>
        <a:p>
          <a:pPr algn="ctr"/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dirty="0"/>
            <a:t/>
          </a:r>
          <a:br>
            <a:rPr lang="uk-UA" sz="1500" b="1" i="0" dirty="0"/>
          </a:br>
          <a:endParaRPr lang="uk-UA" sz="1500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 custT="1"/>
      <dgm:spPr/>
      <dgm:t>
        <a:bodyPr/>
        <a:lstStyle/>
        <a:p>
          <a:pPr algn="ctr"/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dirty="0"/>
            <a:t/>
          </a:r>
          <a:br>
            <a:rPr lang="uk-UA" sz="1500" b="1" i="0" dirty="0"/>
          </a:br>
          <a:endParaRPr lang="uk-UA" sz="1500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 custT="1"/>
      <dgm:spPr/>
      <dgm:t>
        <a:bodyPr/>
        <a:lstStyle/>
        <a:p>
          <a:pPr algn="ctr"/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dirty="0"/>
            <a:t/>
          </a:r>
          <a:br>
            <a:rPr lang="uk-UA" sz="1500" b="1" i="0" dirty="0"/>
          </a:br>
          <a:endParaRPr lang="uk-UA" sz="1500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 custT="1"/>
      <dgm:spPr/>
      <dgm:t>
        <a:bodyPr/>
        <a:lstStyle/>
        <a:p>
          <a:pPr algn="ctr"/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dirty="0"/>
            <a:t/>
          </a:r>
          <a:br>
            <a:rPr lang="uk-UA" sz="1500" b="1" i="0" dirty="0"/>
          </a:br>
          <a:endParaRPr lang="uk-UA" sz="1500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C14E81-04F7-43ED-A600-BB1B93DDA0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5E9D215-E6C9-4566-B614-B462FF4C0066}">
      <dgm:prSet custT="1"/>
      <dgm:spPr/>
      <dgm:t>
        <a:bodyPr/>
        <a:lstStyle/>
        <a:p>
          <a:pPr algn="ctr"/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dirty="0"/>
            <a:t/>
          </a:r>
          <a:br>
            <a:rPr lang="uk-UA" sz="1500" b="1" i="0" dirty="0"/>
          </a:br>
          <a:endParaRPr lang="uk-UA" sz="1500" dirty="0"/>
        </a:p>
      </dgm:t>
    </dgm:pt>
    <dgm:pt modelId="{D2D47146-F8D5-4261-B224-26DD5F4461ED}" type="parTrans" cxnId="{B57A0CCC-4C8C-4FC1-B842-5FAB2176060E}">
      <dgm:prSet/>
      <dgm:spPr/>
      <dgm:t>
        <a:bodyPr/>
        <a:lstStyle/>
        <a:p>
          <a:endParaRPr lang="uk-UA"/>
        </a:p>
      </dgm:t>
    </dgm:pt>
    <dgm:pt modelId="{2787A480-89EA-45FF-97A7-452FC6D1056D}" type="sibTrans" cxnId="{B57A0CCC-4C8C-4FC1-B842-5FAB2176060E}">
      <dgm:prSet/>
      <dgm:spPr/>
      <dgm:t>
        <a:bodyPr/>
        <a:lstStyle/>
        <a:p>
          <a:endParaRPr lang="uk-UA"/>
        </a:p>
      </dgm:t>
    </dgm:pt>
    <dgm:pt modelId="{F17F75E4-B84D-46E0-A873-C258ADB9C66C}" type="pres">
      <dgm:prSet presAssocID="{25C14E81-04F7-43ED-A600-BB1B93DDA05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8ED733-2DFD-48CB-AAD7-1F00DC98310A}" type="pres">
      <dgm:prSet presAssocID="{D5E9D215-E6C9-4566-B614-B462FF4C0066}" presName="parentText" presStyleLbl="node1" presStyleIdx="0" presStyleCnt="1" custScaleY="70605" custLinFactNeighborX="-8569" custLinFactNeighborY="-54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0F2DE4-DEAB-44D4-A2B1-A49F67F2425A}" type="presOf" srcId="{D5E9D215-E6C9-4566-B614-B462FF4C0066}" destId="{788ED733-2DFD-48CB-AAD7-1F00DC98310A}" srcOrd="0" destOrd="0" presId="urn:microsoft.com/office/officeart/2005/8/layout/vList2"/>
    <dgm:cxn modelId="{27FE3919-BD3C-45E9-9BC3-DD544CD63523}" type="presOf" srcId="{25C14E81-04F7-43ED-A600-BB1B93DDA055}" destId="{F17F75E4-B84D-46E0-A873-C258ADB9C66C}" srcOrd="0" destOrd="0" presId="urn:microsoft.com/office/officeart/2005/8/layout/vList2"/>
    <dgm:cxn modelId="{B57A0CCC-4C8C-4FC1-B842-5FAB2176060E}" srcId="{25C14E81-04F7-43ED-A600-BB1B93DDA055}" destId="{D5E9D215-E6C9-4566-B614-B462FF4C0066}" srcOrd="0" destOrd="0" parTransId="{D2D47146-F8D5-4261-B224-26DD5F4461ED}" sibTransId="{2787A480-89EA-45FF-97A7-452FC6D1056D}"/>
    <dgm:cxn modelId="{F9C79F1B-4F8F-4A58-89B1-7410BE17519E}" type="presParOf" srcId="{F17F75E4-B84D-46E0-A873-C258ADB9C66C}" destId="{788ED733-2DFD-48CB-AAD7-1F00DC9831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8B53E46-9206-456F-8CD7-367ECFA487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171752A-07B4-490D-BE92-06B76A5A8D33}">
      <dgm:prSet custT="1"/>
      <dgm:spPr/>
      <dgm:t>
        <a:bodyPr/>
        <a:lstStyle/>
        <a:p>
          <a:pPr algn="ctr"/>
          <a:r>
            <a:rPr lang="uk-UA" sz="2300" b="0" i="1" noProof="0" dirty="0" smtClean="0"/>
            <a:t>Опитування студентів щодо рівня академічної доброчесності в Університеті </a:t>
          </a:r>
        </a:p>
        <a:p>
          <a:pPr algn="l"/>
          <a:r>
            <a:rPr lang="uk-UA" sz="2300" b="0" i="1" noProof="0" dirty="0" smtClean="0"/>
            <a:t>(</a:t>
          </a:r>
          <a:r>
            <a:rPr lang="uk-UA" sz="1800" b="0" i="1" noProof="0" dirty="0" smtClean="0"/>
            <a:t>анкетування проведено після марафону академічної доброчесності</a:t>
          </a:r>
          <a:r>
            <a:rPr lang="uk-UA" sz="2300" b="0" i="1" noProof="0" dirty="0" smtClean="0"/>
            <a:t>)</a:t>
          </a:r>
          <a:endParaRPr lang="uk-UA" sz="2300" noProof="0" dirty="0"/>
        </a:p>
      </dgm:t>
    </dgm:pt>
    <dgm:pt modelId="{3C636596-F3ED-459B-A111-4F4DFE17A7E9}" type="parTrans" cxnId="{3F483423-9033-4E6E-BAB5-E640845EE5CF}">
      <dgm:prSet/>
      <dgm:spPr/>
      <dgm:t>
        <a:bodyPr/>
        <a:lstStyle/>
        <a:p>
          <a:endParaRPr lang="uk-UA"/>
        </a:p>
      </dgm:t>
    </dgm:pt>
    <dgm:pt modelId="{2230EC54-0215-4A80-BC7E-A02A4313631A}" type="sibTrans" cxnId="{3F483423-9033-4E6E-BAB5-E640845EE5CF}">
      <dgm:prSet/>
      <dgm:spPr/>
      <dgm:t>
        <a:bodyPr/>
        <a:lstStyle/>
        <a:p>
          <a:endParaRPr lang="uk-UA"/>
        </a:p>
      </dgm:t>
    </dgm:pt>
    <dgm:pt modelId="{83046CE4-2A16-4DCC-BC73-C5A19B614961}" type="pres">
      <dgm:prSet presAssocID="{28B53E46-9206-456F-8CD7-367ECFA487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CF1199-62AA-41CA-9FA8-BA577DBF00F6}" type="pres">
      <dgm:prSet presAssocID="{6171752A-07B4-490D-BE92-06B76A5A8D33}" presName="parentText" presStyleLbl="node1" presStyleIdx="0" presStyleCnt="1" custLinFactNeighborX="-705" custLinFactNeighborY="607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483423-9033-4E6E-BAB5-E640845EE5CF}" srcId="{28B53E46-9206-456F-8CD7-367ECFA487E6}" destId="{6171752A-07B4-490D-BE92-06B76A5A8D33}" srcOrd="0" destOrd="0" parTransId="{3C636596-F3ED-459B-A111-4F4DFE17A7E9}" sibTransId="{2230EC54-0215-4A80-BC7E-A02A4313631A}"/>
    <dgm:cxn modelId="{9F87EE4F-B691-43D9-BAE4-A38C13BE3183}" type="presOf" srcId="{28B53E46-9206-456F-8CD7-367ECFA487E6}" destId="{83046CE4-2A16-4DCC-BC73-C5A19B614961}" srcOrd="0" destOrd="0" presId="urn:microsoft.com/office/officeart/2005/8/layout/vList2"/>
    <dgm:cxn modelId="{88D05A7A-7E08-4872-A0C5-43616C23E57D}" type="presOf" srcId="{6171752A-07B4-490D-BE92-06B76A5A8D33}" destId="{59CF1199-62AA-41CA-9FA8-BA577DBF00F6}" srcOrd="0" destOrd="0" presId="urn:microsoft.com/office/officeart/2005/8/layout/vList2"/>
    <dgm:cxn modelId="{283DAD52-D1DA-4D0F-AAF0-5AD2B777A2D4}" type="presParOf" srcId="{83046CE4-2A16-4DCC-BC73-C5A19B614961}" destId="{59CF1199-62AA-41CA-9FA8-BA577DBF00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8B53E46-9206-456F-8CD7-367ECFA487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171752A-07B4-490D-BE92-06B76A5A8D33}">
      <dgm:prSet custT="1"/>
      <dgm:spPr/>
      <dgm:t>
        <a:bodyPr/>
        <a:lstStyle/>
        <a:p>
          <a:pPr algn="ctr"/>
          <a:r>
            <a:rPr lang="uk-UA" sz="2300" b="0" i="1" noProof="0" dirty="0" smtClean="0"/>
            <a:t>Опитування студентів щодо рівня академічної доброчесності в Університеті </a:t>
          </a:r>
        </a:p>
        <a:p>
          <a:pPr algn="l"/>
          <a:r>
            <a:rPr lang="uk-UA" sz="2300" b="0" i="1" noProof="0" dirty="0" smtClean="0"/>
            <a:t>(</a:t>
          </a:r>
          <a:r>
            <a:rPr lang="uk-UA" sz="1800" b="0" i="1" noProof="0" dirty="0" smtClean="0"/>
            <a:t>анкетування проведено після марафону академічної доброчесності</a:t>
          </a:r>
          <a:r>
            <a:rPr lang="uk-UA" sz="2300" b="0" i="1" noProof="0" dirty="0" smtClean="0"/>
            <a:t>)</a:t>
          </a:r>
          <a:endParaRPr lang="uk-UA" sz="2300" noProof="0" dirty="0"/>
        </a:p>
      </dgm:t>
    </dgm:pt>
    <dgm:pt modelId="{3C636596-F3ED-459B-A111-4F4DFE17A7E9}" type="parTrans" cxnId="{3F483423-9033-4E6E-BAB5-E640845EE5CF}">
      <dgm:prSet/>
      <dgm:spPr/>
      <dgm:t>
        <a:bodyPr/>
        <a:lstStyle/>
        <a:p>
          <a:endParaRPr lang="uk-UA"/>
        </a:p>
      </dgm:t>
    </dgm:pt>
    <dgm:pt modelId="{2230EC54-0215-4A80-BC7E-A02A4313631A}" type="sibTrans" cxnId="{3F483423-9033-4E6E-BAB5-E640845EE5CF}">
      <dgm:prSet/>
      <dgm:spPr/>
      <dgm:t>
        <a:bodyPr/>
        <a:lstStyle/>
        <a:p>
          <a:endParaRPr lang="uk-UA"/>
        </a:p>
      </dgm:t>
    </dgm:pt>
    <dgm:pt modelId="{83046CE4-2A16-4DCC-BC73-C5A19B614961}" type="pres">
      <dgm:prSet presAssocID="{28B53E46-9206-456F-8CD7-367ECFA487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CF1199-62AA-41CA-9FA8-BA577DBF00F6}" type="pres">
      <dgm:prSet presAssocID="{6171752A-07B4-490D-BE92-06B76A5A8D33}" presName="parentText" presStyleLbl="node1" presStyleIdx="0" presStyleCnt="1" custLinFactNeighborX="-705" custLinFactNeighborY="607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483423-9033-4E6E-BAB5-E640845EE5CF}" srcId="{28B53E46-9206-456F-8CD7-367ECFA487E6}" destId="{6171752A-07B4-490D-BE92-06B76A5A8D33}" srcOrd="0" destOrd="0" parTransId="{3C636596-F3ED-459B-A111-4F4DFE17A7E9}" sibTransId="{2230EC54-0215-4A80-BC7E-A02A4313631A}"/>
    <dgm:cxn modelId="{9F87EE4F-B691-43D9-BAE4-A38C13BE3183}" type="presOf" srcId="{28B53E46-9206-456F-8CD7-367ECFA487E6}" destId="{83046CE4-2A16-4DCC-BC73-C5A19B614961}" srcOrd="0" destOrd="0" presId="urn:microsoft.com/office/officeart/2005/8/layout/vList2"/>
    <dgm:cxn modelId="{88D05A7A-7E08-4872-A0C5-43616C23E57D}" type="presOf" srcId="{6171752A-07B4-490D-BE92-06B76A5A8D33}" destId="{59CF1199-62AA-41CA-9FA8-BA577DBF00F6}" srcOrd="0" destOrd="0" presId="urn:microsoft.com/office/officeart/2005/8/layout/vList2"/>
    <dgm:cxn modelId="{283DAD52-D1DA-4D0F-AAF0-5AD2B777A2D4}" type="presParOf" srcId="{83046CE4-2A16-4DCC-BC73-C5A19B614961}" destId="{59CF1199-62AA-41CA-9FA8-BA577DBF00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8B53E46-9206-456F-8CD7-367ECFA487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171752A-07B4-490D-BE92-06B76A5A8D33}">
      <dgm:prSet custT="1"/>
      <dgm:spPr/>
      <dgm:t>
        <a:bodyPr/>
        <a:lstStyle/>
        <a:p>
          <a:pPr algn="ctr"/>
          <a:r>
            <a:rPr lang="uk-UA" sz="2300" b="0" i="1" noProof="0" dirty="0" smtClean="0"/>
            <a:t>Опитування студентів щодо рівня академічної доброчесності в Університеті </a:t>
          </a:r>
        </a:p>
        <a:p>
          <a:pPr algn="l"/>
          <a:r>
            <a:rPr lang="uk-UA" sz="2300" b="0" i="1" noProof="0" dirty="0" smtClean="0"/>
            <a:t>(</a:t>
          </a:r>
          <a:r>
            <a:rPr lang="uk-UA" sz="1800" b="0" i="1" noProof="0" dirty="0" smtClean="0"/>
            <a:t>анкетування проведено після марафону академічної доброчесності</a:t>
          </a:r>
          <a:r>
            <a:rPr lang="uk-UA" sz="2300" b="0" i="1" noProof="0" dirty="0" smtClean="0"/>
            <a:t>)</a:t>
          </a:r>
          <a:endParaRPr lang="uk-UA" sz="2300" noProof="0" dirty="0"/>
        </a:p>
      </dgm:t>
    </dgm:pt>
    <dgm:pt modelId="{3C636596-F3ED-459B-A111-4F4DFE17A7E9}" type="parTrans" cxnId="{3F483423-9033-4E6E-BAB5-E640845EE5CF}">
      <dgm:prSet/>
      <dgm:spPr/>
      <dgm:t>
        <a:bodyPr/>
        <a:lstStyle/>
        <a:p>
          <a:endParaRPr lang="uk-UA"/>
        </a:p>
      </dgm:t>
    </dgm:pt>
    <dgm:pt modelId="{2230EC54-0215-4A80-BC7E-A02A4313631A}" type="sibTrans" cxnId="{3F483423-9033-4E6E-BAB5-E640845EE5CF}">
      <dgm:prSet/>
      <dgm:spPr/>
      <dgm:t>
        <a:bodyPr/>
        <a:lstStyle/>
        <a:p>
          <a:endParaRPr lang="uk-UA"/>
        </a:p>
      </dgm:t>
    </dgm:pt>
    <dgm:pt modelId="{83046CE4-2A16-4DCC-BC73-C5A19B614961}" type="pres">
      <dgm:prSet presAssocID="{28B53E46-9206-456F-8CD7-367ECFA487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CF1199-62AA-41CA-9FA8-BA577DBF00F6}" type="pres">
      <dgm:prSet presAssocID="{6171752A-07B4-490D-BE92-06B76A5A8D33}" presName="parentText" presStyleLbl="node1" presStyleIdx="0" presStyleCnt="1" custLinFactNeighborX="-705" custLinFactNeighborY="607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483423-9033-4E6E-BAB5-E640845EE5CF}" srcId="{28B53E46-9206-456F-8CD7-367ECFA487E6}" destId="{6171752A-07B4-490D-BE92-06B76A5A8D33}" srcOrd="0" destOrd="0" parTransId="{3C636596-F3ED-459B-A111-4F4DFE17A7E9}" sibTransId="{2230EC54-0215-4A80-BC7E-A02A4313631A}"/>
    <dgm:cxn modelId="{9F87EE4F-B691-43D9-BAE4-A38C13BE3183}" type="presOf" srcId="{28B53E46-9206-456F-8CD7-367ECFA487E6}" destId="{83046CE4-2A16-4DCC-BC73-C5A19B614961}" srcOrd="0" destOrd="0" presId="urn:microsoft.com/office/officeart/2005/8/layout/vList2"/>
    <dgm:cxn modelId="{88D05A7A-7E08-4872-A0C5-43616C23E57D}" type="presOf" srcId="{6171752A-07B4-490D-BE92-06B76A5A8D33}" destId="{59CF1199-62AA-41CA-9FA8-BA577DBF00F6}" srcOrd="0" destOrd="0" presId="urn:microsoft.com/office/officeart/2005/8/layout/vList2"/>
    <dgm:cxn modelId="{283DAD52-D1DA-4D0F-AAF0-5AD2B777A2D4}" type="presParOf" srcId="{83046CE4-2A16-4DCC-BC73-C5A19B614961}" destId="{59CF1199-62AA-41CA-9FA8-BA577DBF00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8B53E46-9206-456F-8CD7-367ECFA487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171752A-07B4-490D-BE92-06B76A5A8D33}">
      <dgm:prSet custT="1"/>
      <dgm:spPr/>
      <dgm:t>
        <a:bodyPr/>
        <a:lstStyle/>
        <a:p>
          <a:pPr algn="ctr"/>
          <a:r>
            <a:rPr lang="uk-UA" sz="2300" b="0" i="1" noProof="0" dirty="0" smtClean="0"/>
            <a:t>Опитування студентів щодо рівня академічної доброчесності в Університеті </a:t>
          </a:r>
        </a:p>
        <a:p>
          <a:pPr algn="l"/>
          <a:r>
            <a:rPr lang="uk-UA" sz="2300" b="0" i="1" noProof="0" dirty="0" smtClean="0"/>
            <a:t>(</a:t>
          </a:r>
          <a:r>
            <a:rPr lang="uk-UA" sz="1800" b="0" i="1" noProof="0" dirty="0" smtClean="0"/>
            <a:t>анкетування проведено після марафону академічної доброчесності</a:t>
          </a:r>
          <a:r>
            <a:rPr lang="uk-UA" sz="2300" b="0" i="1" noProof="0" dirty="0" smtClean="0"/>
            <a:t>)</a:t>
          </a:r>
          <a:endParaRPr lang="uk-UA" sz="2300" noProof="0" dirty="0"/>
        </a:p>
      </dgm:t>
    </dgm:pt>
    <dgm:pt modelId="{3C636596-F3ED-459B-A111-4F4DFE17A7E9}" type="parTrans" cxnId="{3F483423-9033-4E6E-BAB5-E640845EE5CF}">
      <dgm:prSet/>
      <dgm:spPr/>
      <dgm:t>
        <a:bodyPr/>
        <a:lstStyle/>
        <a:p>
          <a:endParaRPr lang="uk-UA"/>
        </a:p>
      </dgm:t>
    </dgm:pt>
    <dgm:pt modelId="{2230EC54-0215-4A80-BC7E-A02A4313631A}" type="sibTrans" cxnId="{3F483423-9033-4E6E-BAB5-E640845EE5CF}">
      <dgm:prSet/>
      <dgm:spPr/>
      <dgm:t>
        <a:bodyPr/>
        <a:lstStyle/>
        <a:p>
          <a:endParaRPr lang="uk-UA"/>
        </a:p>
      </dgm:t>
    </dgm:pt>
    <dgm:pt modelId="{83046CE4-2A16-4DCC-BC73-C5A19B614961}" type="pres">
      <dgm:prSet presAssocID="{28B53E46-9206-456F-8CD7-367ECFA487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CF1199-62AA-41CA-9FA8-BA577DBF00F6}" type="pres">
      <dgm:prSet presAssocID="{6171752A-07B4-490D-BE92-06B76A5A8D33}" presName="parentText" presStyleLbl="node1" presStyleIdx="0" presStyleCnt="1" custLinFactNeighborX="-705" custLinFactNeighborY="607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483423-9033-4E6E-BAB5-E640845EE5CF}" srcId="{28B53E46-9206-456F-8CD7-367ECFA487E6}" destId="{6171752A-07B4-490D-BE92-06B76A5A8D33}" srcOrd="0" destOrd="0" parTransId="{3C636596-F3ED-459B-A111-4F4DFE17A7E9}" sibTransId="{2230EC54-0215-4A80-BC7E-A02A4313631A}"/>
    <dgm:cxn modelId="{9F87EE4F-B691-43D9-BAE4-A38C13BE3183}" type="presOf" srcId="{28B53E46-9206-456F-8CD7-367ECFA487E6}" destId="{83046CE4-2A16-4DCC-BC73-C5A19B614961}" srcOrd="0" destOrd="0" presId="urn:microsoft.com/office/officeart/2005/8/layout/vList2"/>
    <dgm:cxn modelId="{88D05A7A-7E08-4872-A0C5-43616C23E57D}" type="presOf" srcId="{6171752A-07B4-490D-BE92-06B76A5A8D33}" destId="{59CF1199-62AA-41CA-9FA8-BA577DBF00F6}" srcOrd="0" destOrd="0" presId="urn:microsoft.com/office/officeart/2005/8/layout/vList2"/>
    <dgm:cxn modelId="{283DAD52-D1DA-4D0F-AAF0-5AD2B777A2D4}" type="presParOf" srcId="{83046CE4-2A16-4DCC-BC73-C5A19B614961}" destId="{59CF1199-62AA-41CA-9FA8-BA577DBF00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AABA1-2D77-423C-B420-625520F7BF89}">
      <dsp:nvSpPr>
        <dsp:cNvPr id="0" name=""/>
        <dsp:cNvSpPr/>
      </dsp:nvSpPr>
      <dsp:spPr>
        <a:xfrm>
          <a:off x="0" y="0"/>
          <a:ext cx="4441370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000" b="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Анкетування</a:t>
          </a:r>
          <a:r>
            <a:rPr lang="uk-UA" sz="4000" b="1" i="0" kern="1200" dirty="0"/>
            <a:t> – </a:t>
          </a:r>
          <a:endParaRPr lang="uk-UA" sz="4000" kern="1200" dirty="0"/>
        </a:p>
      </dsp:txBody>
      <dsp:txXfrm>
        <a:off x="48433" y="48433"/>
        <a:ext cx="4344504" cy="895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35130"/>
          <a:ext cx="9523578" cy="823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1" i="1" kern="1200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для опитування здобувачів вищої освіти щодо якості освітнього процесу та освітньої діяльності</a:t>
          </a:r>
          <a:endParaRPr lang="uk-UA" sz="2100" i="1" kern="1200" noProof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184" y="75314"/>
        <a:ext cx="9443210" cy="7428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114276" cy="1389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2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26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діяльності </a:t>
          </a:r>
          <a:r>
            <a:rPr lang="uk-UA" sz="2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2600" b="1" i="0" kern="1200" dirty="0"/>
            <a:t/>
          </a:r>
          <a:br>
            <a:rPr lang="uk-UA" sz="2600" b="1" i="0" kern="1200" dirty="0"/>
          </a:br>
          <a:endParaRPr lang="uk-UA" sz="2600" kern="1200" dirty="0"/>
        </a:p>
      </dsp:txBody>
      <dsp:txXfrm>
        <a:off x="67828" y="67828"/>
        <a:ext cx="8978620" cy="1253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8861728" cy="10408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9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9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 діяльності </a:t>
          </a:r>
          <a:r>
            <a:rPr lang="uk-UA" sz="19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900" b="1" i="0" kern="1200" dirty="0"/>
            <a:t/>
          </a:r>
          <a:br>
            <a:rPr lang="uk-UA" sz="1900" b="1" i="0" kern="1200" dirty="0"/>
          </a:br>
          <a:endParaRPr lang="uk-UA" sz="1900" kern="1200" dirty="0"/>
        </a:p>
      </dsp:txBody>
      <dsp:txXfrm>
        <a:off x="50810" y="50810"/>
        <a:ext cx="8760108" cy="9392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436495" cy="796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kern="1200" dirty="0"/>
            <a:t/>
          </a:r>
          <a:br>
            <a:rPr lang="uk-UA" sz="1500" b="1" i="0" kern="1200" dirty="0"/>
          </a:br>
          <a:endParaRPr lang="uk-UA" sz="1500" kern="1200" dirty="0"/>
        </a:p>
      </dsp:txBody>
      <dsp:txXfrm>
        <a:off x="38883" y="38883"/>
        <a:ext cx="9358729" cy="7187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436495" cy="796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kern="1200" dirty="0"/>
            <a:t/>
          </a:r>
          <a:br>
            <a:rPr lang="uk-UA" sz="1500" b="1" i="0" kern="1200" dirty="0"/>
          </a:br>
          <a:endParaRPr lang="uk-UA" sz="1500" kern="1200" dirty="0"/>
        </a:p>
      </dsp:txBody>
      <dsp:txXfrm>
        <a:off x="38883" y="38883"/>
        <a:ext cx="9358729" cy="7187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436495" cy="796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kern="1200" dirty="0"/>
            <a:t/>
          </a:r>
          <a:br>
            <a:rPr lang="uk-UA" sz="1500" b="1" i="0" kern="1200" dirty="0"/>
          </a:br>
          <a:endParaRPr lang="uk-UA" sz="1500" kern="1200" dirty="0"/>
        </a:p>
      </dsp:txBody>
      <dsp:txXfrm>
        <a:off x="38883" y="38883"/>
        <a:ext cx="9358729" cy="7187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436495" cy="796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kern="1200" dirty="0"/>
            <a:t/>
          </a:r>
          <a:br>
            <a:rPr lang="uk-UA" sz="1500" b="1" i="0" kern="1200" dirty="0"/>
          </a:br>
          <a:endParaRPr lang="uk-UA" sz="1500" kern="1200" dirty="0"/>
        </a:p>
      </dsp:txBody>
      <dsp:txXfrm>
        <a:off x="38883" y="38883"/>
        <a:ext cx="9358729" cy="7187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ED733-2DFD-48CB-AAD7-1F00DC98310A}">
      <dsp:nvSpPr>
        <dsp:cNvPr id="0" name=""/>
        <dsp:cNvSpPr/>
      </dsp:nvSpPr>
      <dsp:spPr>
        <a:xfrm>
          <a:off x="0" y="0"/>
          <a:ext cx="9436495" cy="7965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Анкета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«Оцінювання здобувачами освітньої </a:t>
          </a:r>
          <a:r>
            <a:rPr lang="uk-UA" sz="1800" b="1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діяльності </a:t>
          </a: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 вивченні навчальних дисциплін»</a:t>
          </a:r>
          <a:r>
            <a:rPr lang="uk-UA" sz="1500" b="1" i="0" kern="1200" dirty="0"/>
            <a:t/>
          </a:r>
          <a:br>
            <a:rPr lang="uk-UA" sz="1500" b="1" i="0" kern="1200" dirty="0"/>
          </a:br>
          <a:endParaRPr lang="uk-UA" sz="1500" kern="1200" dirty="0"/>
        </a:p>
      </dsp:txBody>
      <dsp:txXfrm>
        <a:off x="38883" y="38883"/>
        <a:ext cx="9358729" cy="7187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F1199-62AA-41CA-9FA8-BA577DBF00F6}">
      <dsp:nvSpPr>
        <dsp:cNvPr id="0" name=""/>
        <dsp:cNvSpPr/>
      </dsp:nvSpPr>
      <dsp:spPr>
        <a:xfrm>
          <a:off x="0" y="1158"/>
          <a:ext cx="8049334" cy="1271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Опитування студентів щодо рівня академічної доброчесності в Університеті 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(</a:t>
          </a:r>
          <a:r>
            <a:rPr lang="uk-UA" sz="1800" b="0" i="1" kern="1200" noProof="0" dirty="0" smtClean="0"/>
            <a:t>анкетування проведено після марафону академічної доброчесності</a:t>
          </a:r>
          <a:r>
            <a:rPr lang="uk-UA" sz="2300" b="0" i="1" kern="1200" noProof="0" dirty="0" smtClean="0"/>
            <a:t>)</a:t>
          </a:r>
          <a:endParaRPr lang="uk-UA" sz="2300" kern="1200" noProof="0" dirty="0"/>
        </a:p>
      </dsp:txBody>
      <dsp:txXfrm>
        <a:off x="62047" y="63205"/>
        <a:ext cx="7925240" cy="11469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F1199-62AA-41CA-9FA8-BA577DBF00F6}">
      <dsp:nvSpPr>
        <dsp:cNvPr id="0" name=""/>
        <dsp:cNvSpPr/>
      </dsp:nvSpPr>
      <dsp:spPr>
        <a:xfrm>
          <a:off x="0" y="1158"/>
          <a:ext cx="8049334" cy="1271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Опитування студентів щодо рівня академічної доброчесності в Університеті 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(</a:t>
          </a:r>
          <a:r>
            <a:rPr lang="uk-UA" sz="1800" b="0" i="1" kern="1200" noProof="0" dirty="0" smtClean="0"/>
            <a:t>анкетування проведено після марафону академічної доброчесності</a:t>
          </a:r>
          <a:r>
            <a:rPr lang="uk-UA" sz="2300" b="0" i="1" kern="1200" noProof="0" dirty="0" smtClean="0"/>
            <a:t>)</a:t>
          </a:r>
          <a:endParaRPr lang="uk-UA" sz="2300" kern="1200" noProof="0" dirty="0"/>
        </a:p>
      </dsp:txBody>
      <dsp:txXfrm>
        <a:off x="62047" y="63205"/>
        <a:ext cx="7925240" cy="11469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F1199-62AA-41CA-9FA8-BA577DBF00F6}">
      <dsp:nvSpPr>
        <dsp:cNvPr id="0" name=""/>
        <dsp:cNvSpPr/>
      </dsp:nvSpPr>
      <dsp:spPr>
        <a:xfrm>
          <a:off x="0" y="1158"/>
          <a:ext cx="8049334" cy="1271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Опитування студентів щодо рівня академічної доброчесності в Університеті 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(</a:t>
          </a:r>
          <a:r>
            <a:rPr lang="uk-UA" sz="1800" b="0" i="1" kern="1200" noProof="0" dirty="0" smtClean="0"/>
            <a:t>анкетування проведено після марафону академічної доброчесності</a:t>
          </a:r>
          <a:r>
            <a:rPr lang="uk-UA" sz="2300" b="0" i="1" kern="1200" noProof="0" dirty="0" smtClean="0"/>
            <a:t>)</a:t>
          </a:r>
          <a:endParaRPr lang="uk-UA" sz="2300" kern="1200" noProof="0" dirty="0"/>
        </a:p>
      </dsp:txBody>
      <dsp:txXfrm>
        <a:off x="62047" y="63205"/>
        <a:ext cx="7925240" cy="11469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F1199-62AA-41CA-9FA8-BA577DBF00F6}">
      <dsp:nvSpPr>
        <dsp:cNvPr id="0" name=""/>
        <dsp:cNvSpPr/>
      </dsp:nvSpPr>
      <dsp:spPr>
        <a:xfrm>
          <a:off x="0" y="1158"/>
          <a:ext cx="8049334" cy="1271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Опитування студентів щодо рівня академічної доброчесності в Університеті 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1" kern="1200" noProof="0" dirty="0" smtClean="0"/>
            <a:t>(</a:t>
          </a:r>
          <a:r>
            <a:rPr lang="uk-UA" sz="1800" b="0" i="1" kern="1200" noProof="0" dirty="0" smtClean="0"/>
            <a:t>анкетування проведено після марафону академічної доброчесності</a:t>
          </a:r>
          <a:r>
            <a:rPr lang="uk-UA" sz="2300" b="0" i="1" kern="1200" noProof="0" dirty="0" smtClean="0"/>
            <a:t>)</a:t>
          </a:r>
          <a:endParaRPr lang="uk-UA" sz="2300" kern="1200" noProof="0" dirty="0"/>
        </a:p>
      </dsp:txBody>
      <dsp:txXfrm>
        <a:off x="62047" y="63205"/>
        <a:ext cx="7925240" cy="1146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545E2-F9D9-415B-915B-DDDFCA37B64F}" type="datetimeFigureOut">
              <a:rPr lang="x-none" smtClean="0"/>
              <a:pPr/>
              <a:t>29.04.2025</a:t>
            </a:fld>
            <a:endParaRPr lang="x-none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x-none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1CDF8-7E7F-4F3F-BC96-665DBECFCEE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096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8" name="Google Shape;9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69" name="Google Shape;96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060" y="5052546"/>
            <a:ext cx="7516013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108" y="3132290"/>
            <a:ext cx="9567135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2172648"/>
            <a:ext cx="7955555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3999" y="731519"/>
            <a:ext cx="4462272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731520"/>
            <a:ext cx="4462272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929" y="1400327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403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399032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794" y="2209801"/>
            <a:ext cx="4848113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688" y="731520"/>
            <a:ext cx="5356113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4353" y="3497802"/>
            <a:ext cx="4518213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66900" y="1143000"/>
            <a:ext cx="54864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0516" y="1010486"/>
            <a:ext cx="4925485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91" y="4464421"/>
            <a:ext cx="8511384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0" y="731519"/>
            <a:ext cx="8534400" cy="347472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8344" y="376517"/>
            <a:ext cx="27432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2151" y="731519"/>
            <a:ext cx="6439049" cy="489472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889BC-1D98-BC78-EF22-D482DB4F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49C07B-9921-F682-4A38-F63FD02E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1E8E6-CC99-E76D-12AD-D187A493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705B-58DF-4FA2-8A6A-B00349C3851B}" type="datetimeFigureOut">
              <a:rPr lang="uk-UA" smtClean="0"/>
              <a:t>29.04.2025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9D2E4F-7C31-5490-C148-D7D841A0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57B88-2A98-8DD6-561D-24C23D7A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86C8-787D-4647-95CE-AAB4F325514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22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9000">
              <a:schemeClr val="bg2">
                <a:lumMod val="50000"/>
              </a:schemeClr>
            </a:gs>
            <a:gs pos="100000">
              <a:srgbClr val="E0E0F2"/>
            </a:gs>
            <a:gs pos="39000">
              <a:srgbClr val="FFFF00">
                <a:lumMod val="71000"/>
                <a:lumOff val="29000"/>
              </a:srgbClr>
            </a:gs>
            <a:gs pos="100000">
              <a:srgbClr val="F4E7F7">
                <a:alpha val="7000"/>
              </a:srgbClr>
            </a:gs>
            <a:gs pos="63000">
              <a:srgbClr val="85C2FF">
                <a:lumMod val="71000"/>
                <a:lumOff val="29000"/>
              </a:srgbClr>
            </a:gs>
            <a:gs pos="64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1053" y="4372168"/>
            <a:ext cx="868334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2260"/>
            <a:ext cx="85344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72201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CA60F2E-A060-440B-9EA1-DFFE9472752B}" type="datetimeFigureOut">
              <a:rPr lang="ru-RU" smtClean="0"/>
              <a:pPr/>
              <a:t>29.04.2025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172201"/>
            <a:ext cx="4470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0" y="6172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89B7E-2842-440B-8B01-DAC4E4C5C67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6.pn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29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30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10" Type="http://schemas.openxmlformats.org/officeDocument/2006/relationships/image" Target="../media/image33.pn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3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10" Type="http://schemas.openxmlformats.org/officeDocument/2006/relationships/image" Target="../media/image37.pn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3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39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4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4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45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F6BE780-573A-4036-9E0D-E9E366F72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305878"/>
            <a:ext cx="5194852" cy="2667631"/>
          </a:xfrm>
        </p:spPr>
        <p:txBody>
          <a:bodyPr>
            <a:normAutofit fontScale="90000"/>
          </a:bodyPr>
          <a:lstStyle/>
          <a:p>
            <a:pPr marL="182880" indent="0" algn="ctr">
              <a:buNone/>
            </a:pPr>
            <a:r>
              <a:rPr lang="uk-UA" sz="3600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ЗВІТ ПРО РЕЗУЛЬТАТИ АНКЕТУВАННЯ  СТЕЙКХОЛДЕРІВ УНІВЕРСИТЕТУ</a:t>
            </a:r>
            <a:endParaRPr lang="ru-RU" sz="3600" b="1" i="1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khimu.edu.ua/test/img/logo-w.png">
            <a:extLst>
              <a:ext uri="{FF2B5EF4-FFF2-40B4-BE49-F238E27FC236}">
                <a16:creationId xmlns:a16="http://schemas.microsoft.com/office/drawing/2014/main" id="{02671C54-AEC7-417A-92E0-4BF98163E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468" y="265242"/>
            <a:ext cx="2952751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3B9632-00FD-4FB4-8187-41A98F34E566}"/>
              </a:ext>
            </a:extLst>
          </p:cNvPr>
          <p:cNvSpPr/>
          <p:nvPr/>
        </p:nvSpPr>
        <p:spPr>
          <a:xfrm>
            <a:off x="5784703" y="5013502"/>
            <a:ext cx="6096000" cy="138736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Керівник відділу внутрішнього</a:t>
            </a:r>
            <a:endParaRPr lang="ru-RU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0"/>
              </a:spcAft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забезпечення якості освіти та навчально-методичної діяльності</a:t>
            </a:r>
          </a:p>
          <a:p>
            <a:pPr algn="r">
              <a:lnSpc>
                <a:spcPct val="107000"/>
              </a:lnSpc>
              <a:spcAft>
                <a:spcPts val="0"/>
              </a:spcAft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Марина ГИРЯ</a:t>
            </a:r>
            <a:r>
              <a:rPr lang="uk-UA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971;p12">
            <a:extLst>
              <a:ext uri="{FF2B5EF4-FFF2-40B4-BE49-F238E27FC236}">
                <a16:creationId xmlns:a16="http://schemas.microsoft.com/office/drawing/2014/main" id="{3B5E05E2-2757-A283-EDAE-F6BE353ECD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03" y="-1661711"/>
            <a:ext cx="6762210" cy="959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6953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5429" y="2165001"/>
            <a:ext cx="1148977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uk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один з інструментів реалізації, забезпечення та підвищення якості освіти в ПВНЗ «ХММУ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uk-UA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відповіді на запропоновані запитання здійснюється огляд системи внутрішнього забезпечення якості освіти ПВНЗ «ХММУ», моніторинг освітньої програми, розуміння  дотримання принципів академічної 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доброчесності</a:t>
            </a:r>
          </a:p>
          <a:p>
            <a:pPr algn="just"/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uk-UA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аналізуючи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опитування від </a:t>
            </a:r>
            <a:r>
              <a:rPr lang="uk-UA" sz="24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стейкхолдерів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освітнього процесу, 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анонімному чесному їх заповненні, маємо визначення </a:t>
            </a:r>
            <a:r>
              <a:rPr lang="uk-UA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 якість </a:t>
            </a:r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освітній діяльності Університету </a:t>
            </a:r>
            <a:r>
              <a:rPr lang="uk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uk-UA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01D51326-88D1-85DB-65DC-47773A9B9E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515536"/>
              </p:ext>
            </p:extLst>
          </p:nvPr>
        </p:nvGraphicFramePr>
        <p:xfrm>
          <a:off x="4127863" y="264621"/>
          <a:ext cx="4441370" cy="1006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26" y="112339"/>
            <a:ext cx="2097945" cy="189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062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D1135-CCDE-E87A-E1DA-CF0821724D28}"/>
              </a:ext>
            </a:extLst>
          </p:cNvPr>
          <p:cNvSpPr txBox="1"/>
          <p:nvPr/>
        </p:nvSpPr>
        <p:spPr>
          <a:xfrm>
            <a:off x="360652" y="0"/>
            <a:ext cx="11188700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звітний період </a:t>
            </a:r>
            <a:r>
              <a:rPr lang="uk-UA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Запропоновано  анкет для </a:t>
            </a:r>
            <a:r>
              <a:rPr lang="uk-UA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стейкхолдерів</a:t>
            </a:r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- 26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 відповідей </a:t>
            </a:r>
            <a:r>
              <a:rPr lang="uk-UA" sz="20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- 347</a:t>
            </a:r>
            <a:endParaRPr lang="uk-UA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Надано пропозицій в анкетах - 39</a:t>
            </a:r>
            <a:endParaRPr lang="uk-UA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Зроблено </a:t>
            </a:r>
            <a:r>
              <a:rPr lang="uk-UA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вітів аналізу результатів опитування - 17</a:t>
            </a:r>
          </a:p>
          <a:p>
            <a:pPr algn="just"/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Опитування були проведені відділом внутрішнього забезпечення якості освіти та навчально-методичної діяльності, психологічною службою Університету, кафедрами, студентською радою</a:t>
            </a:r>
          </a:p>
          <a:p>
            <a:pPr algn="just"/>
            <a:endParaRPr lang="uk-UA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Основні напрямки анкетування</a:t>
            </a:r>
            <a:endParaRPr lang="uk-UA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uk-UA" sz="2000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итання </a:t>
            </a:r>
            <a:r>
              <a:rPr lang="uk-UA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 внутрішнього забезпечення якості освіти в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uk-UA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ніверситеті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600"/>
              </a:spcAft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Виробнича практика  очима студента;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Обрання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вибіркової дисципліни здобувачами на кожному курсі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навчання;</a:t>
            </a:r>
          </a:p>
          <a:p>
            <a:pPr algn="just">
              <a:spcAft>
                <a:spcPts val="600"/>
              </a:spcAft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Дотримання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принципів академічної доброчесності науково-педагогічними  та педагогічними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працівниками, здобувачами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Університету;</a:t>
            </a:r>
          </a:p>
          <a:p>
            <a:pPr algn="just">
              <a:spcAft>
                <a:spcPts val="600"/>
              </a:spcAft>
            </a:pPr>
            <a:r>
              <a:rPr lang="uk-UA" sz="2000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Оцінювання </a:t>
            </a:r>
            <a:r>
              <a:rPr lang="uk-UA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здобувачами вищої освіти якості освітньої діяльності при вивченні навчальних дисциплін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600"/>
              </a:spcAft>
            </a:pP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Булінг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обізнаність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досвід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курація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анкетування Державної служби якості освіти України</a:t>
            </a:r>
          </a:p>
          <a:p>
            <a:pPr algn="just"/>
            <a:r>
              <a:rPr lang="uk-UA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курація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анкетування МОН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України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115790" y="4403286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1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115791" y="4028936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2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100151" y="5071777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3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93242" y="6265960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4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100151" y="5785566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5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97397" y="3248952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6" name="Стрелка: вправо 3">
            <a:extLst>
              <a:ext uri="{FF2B5EF4-FFF2-40B4-BE49-F238E27FC236}">
                <a16:creationId xmlns:a16="http://schemas.microsoft.com/office/drawing/2014/main" id="{194E03F5-52E8-FE0F-8B31-BBFB40FF6DFE}"/>
              </a:ext>
            </a:extLst>
          </p:cNvPr>
          <p:cNvSpPr/>
          <p:nvPr/>
        </p:nvSpPr>
        <p:spPr>
          <a:xfrm>
            <a:off x="93241" y="3638944"/>
            <a:ext cx="260501" cy="2680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05454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D1135-CCDE-E87A-E1DA-CF0821724D28}"/>
              </a:ext>
            </a:extLst>
          </p:cNvPr>
          <p:cNvSpPr txBox="1"/>
          <p:nvPr/>
        </p:nvSpPr>
        <p:spPr>
          <a:xfrm>
            <a:off x="360652" y="0"/>
            <a:ext cx="11188700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анкетування враховуються при: </a:t>
            </a:r>
          </a:p>
          <a:p>
            <a:pPr algn="just"/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Оновленні,  перегляду, модернізації освітньої програми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Організації освітнього процесу в Університеті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Формуванні навчального плану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Оновленні навчальних програм та </a:t>
            </a:r>
            <a:r>
              <a:rPr lang="uk-UA" sz="20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силабусів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освітніх компонент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лануванні підвищення кваліфікації викладачів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Кафедрами при вдосконаленні методичного забезпечення освітнього процесу, лекційних матеріалів, матеріалів для самостійної роботи здобувачів освіти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Формуванні переліку вибіркових освітніх компонент для індивідуальної  освітньої траєкторії здобувача освіти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Плануванні та проведенні наукових та практичних заходів  в Університеті – конференцій, круглих столів, семінарів, засідань наукових студентських товариств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k-UA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endParaRPr lang="uk-UA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263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1589" y="1827350"/>
            <a:ext cx="11800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  <a:latin typeface="docs-Roboto"/>
              </a:rPr>
              <a:t>Анкету надано для вивчення думки здобувачів вищої освіти щодо системи внутрішнього забезпечення якості освіти, оцінки якості освітньої програми, освітнього процесу та освітньої діяльності Університету 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9701">
            <a:off x="453450" y="278674"/>
            <a:ext cx="1457325" cy="11620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2585442"/>
            <a:ext cx="5719338" cy="280960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242" y="3593450"/>
            <a:ext cx="5126083" cy="3168484"/>
          </a:xfrm>
          <a:prstGeom prst="rect">
            <a:avLst/>
          </a:prstGeom>
        </p:spPr>
      </p:pic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90750"/>
              </p:ext>
            </p:extLst>
          </p:nvPr>
        </p:nvGraphicFramePr>
        <p:xfrm>
          <a:off x="1788855" y="404437"/>
          <a:ext cx="9523579" cy="95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160231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145274"/>
            <a:ext cx="6775269" cy="28242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" y="4113573"/>
            <a:ext cx="5648325" cy="26193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35" y="2391960"/>
            <a:ext cx="5663566" cy="2671806"/>
          </a:xfrm>
          <a:prstGeom prst="rect">
            <a:avLst/>
          </a:prstGeom>
        </p:spPr>
      </p:pic>
      <p:grpSp>
        <p:nvGrpSpPr>
          <p:cNvPr id="7" name="Группа 6"/>
          <p:cNvGrpSpPr/>
          <p:nvPr/>
        </p:nvGrpSpPr>
        <p:grpSpPr>
          <a:xfrm>
            <a:off x="1342920" y="0"/>
            <a:ext cx="9523578" cy="823175"/>
            <a:chOff x="0" y="35130"/>
            <a:chExt cx="9523578" cy="823175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3275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3" y="1516517"/>
            <a:ext cx="6296025" cy="28670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597" y="4092892"/>
            <a:ext cx="5953125" cy="2695575"/>
          </a:xfrm>
          <a:prstGeom prst="rect">
            <a:avLst/>
          </a:prstGeom>
        </p:spPr>
      </p:pic>
      <p:grpSp>
        <p:nvGrpSpPr>
          <p:cNvPr id="5" name="Группа 4"/>
          <p:cNvGrpSpPr/>
          <p:nvPr/>
        </p:nvGrpSpPr>
        <p:grpSpPr>
          <a:xfrm>
            <a:off x="1403880" y="187126"/>
            <a:ext cx="9523578" cy="823175"/>
            <a:chOff x="0" y="35130"/>
            <a:chExt cx="9523578" cy="823175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76794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5" y="1384663"/>
            <a:ext cx="6261265" cy="3125967"/>
          </a:xfrm>
          <a:prstGeom prst="rect">
            <a:avLst/>
          </a:prstGeom>
        </p:spPr>
      </p:pic>
      <p:grpSp>
        <p:nvGrpSpPr>
          <p:cNvPr id="4" name="Группа 3"/>
          <p:cNvGrpSpPr/>
          <p:nvPr/>
        </p:nvGrpSpPr>
        <p:grpSpPr>
          <a:xfrm>
            <a:off x="1203584" y="126167"/>
            <a:ext cx="9523578" cy="823175"/>
            <a:chOff x="0" y="35130"/>
            <a:chExt cx="9523578" cy="823175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55" y="3481115"/>
            <a:ext cx="58769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2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430006" y="100040"/>
            <a:ext cx="9523578" cy="823175"/>
            <a:chOff x="0" y="35130"/>
            <a:chExt cx="9523578" cy="823175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9" y="923215"/>
            <a:ext cx="5753100" cy="31146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46" y="4037890"/>
            <a:ext cx="5777113" cy="287446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932" y="2599615"/>
            <a:ext cx="576262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339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403880" y="187126"/>
            <a:ext cx="9523578" cy="823175"/>
            <a:chOff x="0" y="35130"/>
            <a:chExt cx="9523578" cy="823175"/>
          </a:xfrm>
        </p:grpSpPr>
        <p:sp>
          <p:nvSpPr>
            <p:cNvPr id="3" name="Скругленный прямоугольник 2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338127"/>
            <a:ext cx="5838825" cy="30670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431" y="3672840"/>
            <a:ext cx="58483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175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403880" y="187126"/>
            <a:ext cx="9523578" cy="823175"/>
            <a:chOff x="0" y="35130"/>
            <a:chExt cx="9523578" cy="823175"/>
          </a:xfrm>
        </p:grpSpPr>
        <p:sp>
          <p:nvSpPr>
            <p:cNvPr id="3" name="Скругленный прямоугольник 2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6" y="1050485"/>
            <a:ext cx="5000625" cy="29146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6" y="3965135"/>
            <a:ext cx="5695950" cy="28670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163" y="1712867"/>
            <a:ext cx="56673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89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403880" y="187126"/>
            <a:ext cx="9523578" cy="823175"/>
            <a:chOff x="0" y="35130"/>
            <a:chExt cx="9523578" cy="823175"/>
          </a:xfrm>
        </p:grpSpPr>
        <p:sp>
          <p:nvSpPr>
            <p:cNvPr id="3" name="Скругленный прямоугольник 2"/>
            <p:cNvSpPr/>
            <p:nvPr/>
          </p:nvSpPr>
          <p:spPr>
            <a:xfrm>
              <a:off x="0" y="35130"/>
              <a:ext cx="9523578" cy="823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Скругленный прямоугольник 4"/>
            <p:cNvSpPr txBox="1"/>
            <p:nvPr/>
          </p:nvSpPr>
          <p:spPr>
            <a:xfrm>
              <a:off x="40184" y="75314"/>
              <a:ext cx="9443210" cy="7428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100" b="1" i="1" kern="1200" noProof="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Анкета для опитування здобувачів вищої освіти щодо якості освітнього процесу та освітньої діяльності</a:t>
              </a:r>
              <a:endParaRPr lang="uk-UA" sz="2100" i="1" kern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Прямоугольник 4"/>
          <p:cNvSpPr/>
          <p:nvPr/>
        </p:nvSpPr>
        <p:spPr>
          <a:xfrm>
            <a:off x="174172" y="1163824"/>
            <a:ext cx="50683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Roboto"/>
              </a:rPr>
              <a:t>8.  </a:t>
            </a:r>
            <a:r>
              <a:rPr lang="uk-UA" b="1" dirty="0" smtClean="0">
                <a:solidFill>
                  <a:schemeClr val="accent1">
                    <a:lumMod val="75000"/>
                  </a:schemeClr>
                </a:solidFill>
                <a:latin typeface="Roboto"/>
              </a:rPr>
              <a:t>Які дисципліни, на Вашу думку, варто включити  до освітньої програми:</a:t>
            </a:r>
          </a:p>
          <a:p>
            <a:endParaRPr lang="uk-UA" b="1" dirty="0" smtClean="0">
              <a:solidFill>
                <a:schemeClr val="accent1">
                  <a:lumMod val="75000"/>
                </a:schemeClr>
              </a:solidFill>
              <a:latin typeface="Roboto"/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УЗД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Підготовка до КРОК-2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Військова підготовка саме медиків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Пластична хірургія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Косметологія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 err="1" smtClean="0">
                <a:solidFill>
                  <a:schemeClr val="accent1">
                    <a:lumMod val="75000"/>
                  </a:schemeClr>
                </a:solidFill>
              </a:rPr>
              <a:t>Неонатологія</a:t>
            </a:r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, Сексологія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116382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Roboto"/>
              </a:rPr>
              <a:t>21.    </a:t>
            </a:r>
            <a:r>
              <a:rPr lang="uk-UA" b="1" dirty="0" smtClean="0">
                <a:solidFill>
                  <a:schemeClr val="accent1">
                    <a:lumMod val="75000"/>
                  </a:schemeClr>
                </a:solidFill>
                <a:latin typeface="Roboto"/>
              </a:rPr>
              <a:t>Запропонуйте заходи з поліпшення якості освіти в Університеті</a:t>
            </a:r>
          </a:p>
          <a:p>
            <a:endParaRPr lang="uk-UA" b="1" dirty="0" smtClean="0">
              <a:solidFill>
                <a:schemeClr val="accent1">
                  <a:lumMod val="75000"/>
                </a:schemeClr>
              </a:solidFill>
              <a:latin typeface="Roboto"/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Більше практичних занять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Давати більший вибір вибіркових дисциплін</a:t>
            </a:r>
          </a:p>
          <a:p>
            <a:endParaRPr lang="uk-UA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Створення столів для студентів різних спеціальностей в майбутньому</a:t>
            </a:r>
            <a:endParaRPr lang="uk-UA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284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" y="1685880"/>
            <a:ext cx="1032836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3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зворотній зв’язок, який отримують викладачі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Університет  від студентів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algn="just"/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uk-UA" sz="24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368809"/>
              </p:ext>
            </p:extLst>
          </p:nvPr>
        </p:nvGraphicFramePr>
        <p:xfrm>
          <a:off x="1910775" y="278674"/>
          <a:ext cx="9114276" cy="1436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C86D4C-2611-B89E-DCAE-EECDFCC3EF0E}"/>
              </a:ext>
            </a:extLst>
          </p:cNvPr>
          <p:cNvSpPr txBox="1"/>
          <p:nvPr/>
        </p:nvSpPr>
        <p:spPr>
          <a:xfrm>
            <a:off x="2198917" y="2382577"/>
            <a:ext cx="7132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Анкетування за цією анкетою здійснюється для оцінки якості освітнього компоненту, його викладання та проводиться насамперед підчас закінчення конкретної дисципліни у відповідному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семестрі</a:t>
            </a:r>
            <a:endParaRPr lang="uk-UA" sz="2000" b="1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237" y="4725790"/>
            <a:ext cx="2608215" cy="1997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86D4C-2611-B89E-DCAE-EECDFCC3EF0E}"/>
              </a:ext>
            </a:extLst>
          </p:cNvPr>
          <p:cNvSpPr txBox="1"/>
          <p:nvPr/>
        </p:nvSpPr>
        <p:spPr>
          <a:xfrm>
            <a:off x="818607" y="4172949"/>
            <a:ext cx="7132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Біологічна хімія</a:t>
            </a:r>
          </a:p>
          <a:p>
            <a:pPr algn="just"/>
            <a:r>
              <a:rPr lang="uk-UA" sz="2000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Гігієна та екологія</a:t>
            </a:r>
          </a:p>
          <a:p>
            <a:pPr algn="just"/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Гістологія, цитологія та ембріологія</a:t>
            </a:r>
          </a:p>
          <a:p>
            <a:pPr algn="just"/>
            <a:r>
              <a:rPr lang="uk-UA" sz="2000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Екстрена та невідкладна медична допомога</a:t>
            </a:r>
          </a:p>
          <a:p>
            <a:pPr algn="just"/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Неврологія</a:t>
            </a:r>
          </a:p>
          <a:p>
            <a:pPr algn="just"/>
            <a:r>
              <a:rPr lang="uk-UA" sz="2000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Травматологія та ортопедія</a:t>
            </a:r>
            <a:endParaRPr lang="uk-UA" sz="2000" b="1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062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" y="1685880"/>
            <a:ext cx="11556275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3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 анкетування – отримати надійну та якісну інформацію щодо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відношення здобувачів освіти до  діяльності науково-педагогічних та педагогічних працівників, в тому числі при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застосуванні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інноваційних </a:t>
            </a:r>
            <a:r>
              <a:rPr lang="uk-UA" sz="20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 в їх роботі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uk-UA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тавлення до цілей та програмних результатів навчання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uk-UA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внутрішнього забезпечення якості освітнього компоненту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uk-UA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контрольних заходів, оцінювання здобувачів та  про академічну доброчесність викладача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івень задоволення здобувача освітньою, інформаційною, організаційною, консультативною підтримкою викладача</a:t>
            </a:r>
          </a:p>
          <a:p>
            <a:pPr algn="just"/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algn="just"/>
            <a:r>
              <a:rPr lang="uk-UA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uk-UA" sz="24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468550"/>
              </p:ext>
            </p:extLst>
          </p:nvPr>
        </p:nvGraphicFramePr>
        <p:xfrm>
          <a:off x="1945610" y="344153"/>
          <a:ext cx="8861728" cy="1166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80452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21829" y="4364860"/>
            <a:ext cx="561109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Рівень 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професіоналізму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викладача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Доброчесність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Захопленість професією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Уміння організувати дискусію, 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роботу здобувача, доносити інформацію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Комунікабельність, </a:t>
            </a:r>
          </a:p>
          <a:p>
            <a:pPr algn="just"/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роботи студента, результати тестів</a:t>
            </a:r>
          </a:p>
          <a:p>
            <a:pPr algn="just"/>
            <a:endParaRPr lang="uk-UA" sz="22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uk-UA" sz="22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uk-UA" sz="22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03EC9C-7EF1-FCD8-9A9C-D5DF1CB5C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866272"/>
            <a:ext cx="5310891" cy="3386716"/>
          </a:xfrm>
          <a:prstGeom prst="rect">
            <a:avLst/>
          </a:prstGeom>
        </p:spPr>
      </p:pic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9497736"/>
              </p:ext>
            </p:extLst>
          </p:nvPr>
        </p:nvGraphicFramePr>
        <p:xfrm>
          <a:off x="1518888" y="69669"/>
          <a:ext cx="9436495" cy="796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962" y="1012256"/>
            <a:ext cx="6190842" cy="29146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072891"/>
            <a:ext cx="67341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809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0D0AAA-8937-EAC4-9CC2-F2928940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6" y="976604"/>
            <a:ext cx="5865837" cy="2780407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600333"/>
              </p:ext>
            </p:extLst>
          </p:nvPr>
        </p:nvGraphicFramePr>
        <p:xfrm>
          <a:off x="1570157" y="60961"/>
          <a:ext cx="9436495" cy="796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3833" y="955959"/>
            <a:ext cx="6187900" cy="29881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876052"/>
            <a:ext cx="6039802" cy="28956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7341" y="3963970"/>
            <a:ext cx="5704659" cy="28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515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/>
          </p:nvPr>
        </p:nvGraphicFramePr>
        <p:xfrm>
          <a:off x="1570157" y="60961"/>
          <a:ext cx="9436495" cy="796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25" y="857564"/>
            <a:ext cx="4217843" cy="252072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5268" y="1099551"/>
            <a:ext cx="4407933" cy="265366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0" y="2643298"/>
            <a:ext cx="4275364" cy="255649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9158" y="3921544"/>
            <a:ext cx="47529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387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/>
          </p:nvPr>
        </p:nvGraphicFramePr>
        <p:xfrm>
          <a:off x="1570157" y="60961"/>
          <a:ext cx="9436495" cy="796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867" y="857564"/>
            <a:ext cx="4869996" cy="24440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867" y="3789212"/>
            <a:ext cx="4801145" cy="252504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8479" y="857564"/>
            <a:ext cx="4670516" cy="251688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6607" y="3785900"/>
            <a:ext cx="4960046" cy="248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795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85257" y="1831327"/>
            <a:ext cx="89611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uk-UA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ерез </a:t>
            </a:r>
            <a:r>
              <a:rPr lang="uk-UA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опитування студенти стають активними учасниками освітнього процесу, а  їх зворотний зв’язок є важливим, оскільки вони можуть висвітлити особливості викладання окремих дисциплін і навіть привернути увагу до системних проблем, якщо вони є.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228FC1A-7CC5-7DFE-FBC1-81F5375F9BD5}"/>
              </a:ext>
            </a:extLst>
          </p:cNvPr>
          <p:cNvGraphicFramePr/>
          <p:nvPr>
            <p:extLst/>
          </p:nvPr>
        </p:nvGraphicFramePr>
        <p:xfrm>
          <a:off x="1570157" y="60961"/>
          <a:ext cx="9436495" cy="796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089" y="1938437"/>
            <a:ext cx="1191261" cy="110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880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9462CED-E836-9204-C957-AF89F8EC7F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8281257"/>
              </p:ext>
            </p:extLst>
          </p:nvPr>
        </p:nvGraphicFramePr>
        <p:xfrm>
          <a:off x="1739100" y="77999"/>
          <a:ext cx="8049334" cy="12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189144" y="1995415"/>
            <a:ext cx="11813711" cy="4089862"/>
          </a:xfrm>
        </p:spPr>
        <p:txBody>
          <a:bodyPr/>
          <a:lstStyle/>
          <a:p>
            <a:pPr marL="45720" indent="0" algn="just">
              <a:buNone/>
            </a:pPr>
            <a:r>
              <a:rPr lang="uk-UA" dirty="0"/>
              <a:t>	</a:t>
            </a:r>
            <a:endParaRPr lang="uk-UA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44" y="1639661"/>
            <a:ext cx="5219700" cy="25336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2" y="3370652"/>
            <a:ext cx="54768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267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9462CED-E836-9204-C957-AF89F8EC7FB0}"/>
              </a:ext>
            </a:extLst>
          </p:cNvPr>
          <p:cNvGraphicFramePr/>
          <p:nvPr>
            <p:extLst/>
          </p:nvPr>
        </p:nvGraphicFramePr>
        <p:xfrm>
          <a:off x="1739100" y="77999"/>
          <a:ext cx="8049334" cy="12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189144" y="1995415"/>
            <a:ext cx="11813711" cy="4089862"/>
          </a:xfrm>
        </p:spPr>
        <p:txBody>
          <a:bodyPr/>
          <a:lstStyle/>
          <a:p>
            <a:pPr marL="45720" indent="0" algn="just">
              <a:buNone/>
            </a:pPr>
            <a:r>
              <a:rPr lang="uk-UA" dirty="0"/>
              <a:t>	</a:t>
            </a:r>
            <a:endParaRPr lang="uk-UA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7" y="1545091"/>
            <a:ext cx="5657850" cy="28098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9326" y="3468052"/>
            <a:ext cx="58959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8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9462CED-E836-9204-C957-AF89F8EC7FB0}"/>
              </a:ext>
            </a:extLst>
          </p:cNvPr>
          <p:cNvGraphicFramePr/>
          <p:nvPr>
            <p:extLst/>
          </p:nvPr>
        </p:nvGraphicFramePr>
        <p:xfrm>
          <a:off x="1739100" y="77999"/>
          <a:ext cx="8049334" cy="12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189144" y="1995415"/>
            <a:ext cx="11813711" cy="4089862"/>
          </a:xfrm>
        </p:spPr>
        <p:txBody>
          <a:bodyPr/>
          <a:lstStyle/>
          <a:p>
            <a:pPr marL="45720" indent="0" algn="just">
              <a:buNone/>
            </a:pPr>
            <a:r>
              <a:rPr lang="uk-UA" dirty="0"/>
              <a:t>	</a:t>
            </a:r>
            <a:endParaRPr lang="uk-UA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44" y="1645783"/>
            <a:ext cx="5467350" cy="26955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6152" y="3610402"/>
            <a:ext cx="61722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574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9462CED-E836-9204-C957-AF89F8EC7FB0}"/>
              </a:ext>
            </a:extLst>
          </p:cNvPr>
          <p:cNvGraphicFramePr/>
          <p:nvPr>
            <p:extLst/>
          </p:nvPr>
        </p:nvGraphicFramePr>
        <p:xfrm>
          <a:off x="1739100" y="77999"/>
          <a:ext cx="8049334" cy="12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0" y="5301047"/>
            <a:ext cx="11813711" cy="4089862"/>
          </a:xfrm>
        </p:spPr>
        <p:txBody>
          <a:bodyPr/>
          <a:lstStyle/>
          <a:p>
            <a:pPr marL="45720" indent="0" algn="just">
              <a:buNone/>
            </a:pPr>
            <a:r>
              <a:rPr lang="uk-UA" dirty="0"/>
              <a:t>	</a:t>
            </a:r>
            <a:r>
              <a:rPr lang="uk-UA" sz="20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Підтримка відкритого доступу до наукових матеріалів</a:t>
            </a:r>
          </a:p>
          <a:p>
            <a:pPr marL="45720" indent="0" algn="just">
              <a:buNone/>
            </a:pPr>
            <a:r>
              <a:rPr lang="ru-RU" sz="2000" dirty="0"/>
              <a:t/>
            </a:r>
            <a:br>
              <a:rPr lang="ru-RU" sz="2000" dirty="0"/>
            </a:br>
            <a:r>
              <a:rPr lang="uk-UA" sz="20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Сприяння створенню відкритих наукових платформ, що дозволяють студентам та дослідникам мати доступ до наукових публікацій без фінансових бар'єрів</a:t>
            </a:r>
            <a:endParaRPr lang="uk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97" y="1566590"/>
            <a:ext cx="4962525" cy="27146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90" y="2370039"/>
            <a:ext cx="5295900" cy="26955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89144" y="4710040"/>
            <a:ext cx="2432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Відзнаки за чесність</a:t>
            </a:r>
            <a:endParaRPr lang="uk-UA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063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6736" y="0"/>
            <a:ext cx="1183851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Після проведеного аналізу результатів </a:t>
            </a:r>
            <a:r>
              <a:rPr lang="uk-U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опитування </a:t>
            </a:r>
            <a:r>
              <a:rPr lang="uk-UA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стейкхолдерів</a:t>
            </a:r>
            <a:r>
              <a:rPr lang="uk-U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Університеті </a:t>
            </a:r>
            <a:r>
              <a:rPr lang="uk-U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рекомендовано</a:t>
            </a:r>
            <a:r>
              <a:rPr lang="uk-UA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 освітньої програми, кураторам груп, студентському самоврядуванню проводити роз'яснювальну роботу серед здобувачів, насамперед, молодших курсів щодо освітньої програми, як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комплексу або системи 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освітніх компонентів на відповідному рівні вищої освіти в межах спеціальності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Медицина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Кураторам та старостам груп долучатися до проведення анкетування здобувачів, контролювати кількість респондентів під час опитування</a:t>
            </a:r>
          </a:p>
          <a:p>
            <a:pPr algn="just"/>
            <a:endParaRPr lang="uk-UA" sz="22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Крім проведення щорічного марафону академічної доброчесності активізувати 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проведення семінарів,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групових 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дискусій з метою популяризації академічної доброчесності серед всіх учасників освітнього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процесу. Відповідальний – відділ внутрішнього забезпечення якості освіти та навчально-методичної діяльності, студентське самоврядування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Науково-педагогічним працівникам впроваджувати </a:t>
            </a:r>
            <a:r>
              <a:rPr lang="uk-UA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практику наукових досліджень у процес навчання та створювати умови для вивчення сучасних міжнародних досліджень </a:t>
            </a:r>
            <a:r>
              <a:rPr lang="uk-UA" sz="2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викладанні освітніх компонент</a:t>
            </a:r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uk-UA" sz="2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uk-UA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12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2"/>
          <p:cNvSpPr txBox="1"/>
          <p:nvPr/>
        </p:nvSpPr>
        <p:spPr>
          <a:xfrm>
            <a:off x="-163773" y="1860752"/>
            <a:ext cx="7898776" cy="82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uk-UA" sz="36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Дякую за увагу!</a:t>
            </a:r>
            <a:endParaRPr sz="3600" b="0" i="0" u="none" strike="noStrike" cap="none" dirty="0">
              <a:solidFill>
                <a:schemeClr val="accent1">
                  <a:lumMod val="75000"/>
                </a:schemeClr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" name="Google Shape;971;p12">
            <a:extLst>
              <a:ext uri="{FF2B5EF4-FFF2-40B4-BE49-F238E27FC236}">
                <a16:creationId xmlns:a16="http://schemas.microsoft.com/office/drawing/2014/main" id="{3B5E05E2-2757-A283-EDAE-F6BE353ECD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6995" y="-1531082"/>
            <a:ext cx="6762210" cy="959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21671</TotalTime>
  <Words>643</Words>
  <Application>Microsoft Office PowerPoint</Application>
  <PresentationFormat>Широкоэкранный</PresentationFormat>
  <Paragraphs>149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5" baseType="lpstr">
      <vt:lpstr>Arial</vt:lpstr>
      <vt:lpstr>Calibri</vt:lpstr>
      <vt:lpstr>docs-Roboto</vt:lpstr>
      <vt:lpstr>Georgia</vt:lpstr>
      <vt:lpstr>Lato Black</vt:lpstr>
      <vt:lpstr>Roboto</vt:lpstr>
      <vt:lpstr>Times New Roman</vt:lpstr>
      <vt:lpstr>Trebuchet MS</vt:lpstr>
      <vt:lpstr>Wingdings</vt:lpstr>
      <vt:lpstr>Воздушный поток</vt:lpstr>
      <vt:lpstr>ЗВІТ ПРО РЕЗУЛЬТАТИ АНКЕТУВАННЯ  СТЕЙКХОЛДЕРІВ УНІВЕРСИТЕТУ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Lenovo</cp:lastModifiedBy>
  <cp:revision>295</cp:revision>
  <dcterms:created xsi:type="dcterms:W3CDTF">2021-12-08T12:29:55Z</dcterms:created>
  <dcterms:modified xsi:type="dcterms:W3CDTF">2025-04-29T20:00:42Z</dcterms:modified>
</cp:coreProperties>
</file>